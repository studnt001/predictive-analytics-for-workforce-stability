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60" r:id="rId5"/>
    <p:sldId id="261" r:id="rId6"/>
    <p:sldId id="263" r:id="rId7"/>
    <p:sldId id="264" r:id="rId8"/>
  </p:sldIdLst>
  <p:sldSz cx="18288000" cy="10287000"/>
  <p:notesSz cx="6858000" cy="9144000"/>
  <p:embeddedFontLst>
    <p:embeddedFont>
      <p:font typeface="ITC Franklin Gothic LT" panose="020B0604020202020204" charset="0"/>
      <p:regular r:id="rId10"/>
    </p:embeddedFont>
    <p:embeddedFont>
      <p:font typeface="ITC Franklin Gothic LT Condensed Semi-Bold" panose="020B0604020202020204" charset="0"/>
      <p:regular r:id="rId11"/>
    </p:embeddedFont>
    <p:embeddedFont>
      <p:font typeface="ITC Franklin Gothic LT Semi-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3341" autoAdjust="0"/>
  </p:normalViewPr>
  <p:slideViewPr>
    <p:cSldViewPr>
      <p:cViewPr>
        <p:scale>
          <a:sx n="70" d="100"/>
          <a:sy n="70" d="100"/>
        </p:scale>
        <p:origin x="77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Employee attrition is when workers leave an organization and aren't immediately replaced. </a:t>
            </a:r>
          </a:p>
          <a:p>
            <a:r>
              <a:rPr lang="en-US" dirty="0"/>
              <a:t>Research shows that replacing a single employee can cost between one and a half to two times their annual salary. </a:t>
            </a:r>
          </a:p>
          <a:p>
            <a:r>
              <a:rPr lang="en-US" dirty="0"/>
              <a:t>For a large company, that can add up to millions of dollars every year just in turnover.</a:t>
            </a:r>
          </a:p>
          <a:p>
            <a:r>
              <a:rPr lang="en-US" dirty="0"/>
              <a:t>Also, when skilled people leave, organizations lose institutional knowledge, team morale drops and productivity suffers during the transition. </a:t>
            </a:r>
          </a:p>
          <a:p>
            <a:r>
              <a:rPr lang="en-US" dirty="0"/>
              <a:t>Most companies only react to attrition after it's already happened. </a:t>
            </a:r>
          </a:p>
          <a:p>
            <a:r>
              <a:rPr lang="en-US" dirty="0"/>
              <a:t>An opportunity could be in prediction where identifying which employees are at risk of leaving before they actually walk out the door. </a:t>
            </a:r>
          </a:p>
          <a:p>
            <a:r>
              <a:rPr lang="en-US" dirty="0"/>
              <a:t>My interest in this topic comes from my current role, where I am part of the department that conducts a 5-week basic training course for all new hires, and seeing only 20% still with us.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dataset used is the IBM Watson HR Employee Attrition and Performance dataset, a synthetic dataset with 1,470 employee records and 35 features. It includes everything from compensation and job role to satisfaction ratings and years with the current manager.</a:t>
            </a:r>
            <a:endParaRPr lang="en-US" sz="1200" dirty="0">
              <a:solidFill>
                <a:schemeClr val="tx1"/>
              </a:solidFill>
              <a:latin typeface="+mn-lt"/>
              <a:ea typeface="+mn-ea"/>
              <a:cs typeface="+mn-cs"/>
            </a:endParaRPr>
          </a:p>
          <a:p>
            <a:r>
              <a:rPr lang="en-US" sz="3000" dirty="0">
                <a:solidFill>
                  <a:srgbClr val="000000"/>
                </a:solidFill>
                <a:latin typeface="ITC Franklin Gothic LT"/>
                <a:ea typeface="ITC Franklin Gothic LT"/>
                <a:cs typeface="ITC Franklin Gothic LT"/>
                <a:sym typeface="ITC Franklin Gothic LT"/>
              </a:rPr>
              <a:t>Real employee data is difficult to obtain, companies do not make personnel records public and accessing non-synthetic demographic data typically requires an NDA making it inaccessible for open research. And anonymized personal data is vulnerable to re-identification. An example is the Netflix public dataset challenge where researchers were able to reverse-engineer anonymized customer records to identify individuals. </a:t>
            </a:r>
          </a:p>
          <a:p>
            <a:r>
              <a:rPr lang="en-US" sz="3000" dirty="0">
                <a:solidFill>
                  <a:srgbClr val="000000"/>
                </a:solidFill>
                <a:latin typeface="ITC Franklin Gothic LT"/>
                <a:ea typeface="ITC Franklin Gothic LT"/>
                <a:cs typeface="ITC Franklin Gothic LT"/>
                <a:sym typeface="ITC Franklin Gothic LT"/>
              </a:rPr>
              <a:t>Back to the dataset, about 84% data makeup current employees and 16% of records are of employees who left.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Before building any models, I explored the data visually across several dimensions.</a:t>
            </a:r>
          </a:p>
          <a:p>
            <a:r>
              <a:rPr lang="en-US" dirty="0"/>
              <a:t>Department, Sales had the highest attrition rate, followed by Human Resources. Research and Development had the lowest.</a:t>
            </a:r>
          </a:p>
          <a:p>
            <a:r>
              <a:rPr lang="en-US" dirty="0"/>
              <a:t>Age, younger employees in their mid-to-late twenties and early thirties accounted for the most departures. Attrition dropped noticeably after age 35, consistent with early-career job mobility patterns.</a:t>
            </a:r>
          </a:p>
          <a:p>
            <a:r>
              <a:rPr lang="en-US" dirty="0"/>
              <a:t>Income, employees who left were heavily concentrated in the lower monthly income brackets, between one thousand and four thousand dollars, while current employees were spread more evenly into higher ranges.</a:t>
            </a:r>
          </a:p>
          <a:p>
            <a:r>
              <a:rPr lang="en-US" dirty="0"/>
              <a:t>Manager tenure, employees who left were most concentrated among those with zero to two years with their current manager, suggesting that early manager-employee relationships are more fragile.</a:t>
            </a:r>
          </a:p>
          <a:p>
            <a:r>
              <a:rPr lang="en-US" dirty="0"/>
              <a:t>To prepare the data, I dropped four constant columns that added no information, converted rating-based columns to categorical types, and log-transformed nine skewed numeric features to bring their distributions closer to normal. </a:t>
            </a:r>
          </a:p>
          <a:p>
            <a:r>
              <a:rPr lang="en-US" dirty="0"/>
              <a:t>I also ran an independent t-test on monthly income, which confirmed that employees who left earned significantly less than those who stayed, with a p-value effectively at zero.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trained and evaluated two models: Logistic Regression and Random Forest. </a:t>
            </a:r>
          </a:p>
          <a:p>
            <a:r>
              <a:rPr lang="en-US" dirty="0"/>
              <a:t>The Random Forest model showed feature importance scores. The top driver was monthly income, and then followed by age, overtime, total working years, years at the company and years with the current manager. </a:t>
            </a:r>
          </a:p>
          <a:p>
            <a:r>
              <a:rPr lang="en-US" dirty="0"/>
              <a:t>This confirms what the EDA suggested: compensation and tenure are some of the biggest predictors of whether someone stays or goes. </a:t>
            </a:r>
          </a:p>
          <a:p>
            <a:r>
              <a:rPr lang="en-US" dirty="0"/>
              <a:t>Random Forest achieved the higher accuracy, 84.69% on the test set. But it only correctly identified 4% of the employees who had actually left. It was essentially ignoring the past employee category entirely, which makes it not as useful for the actual purpose of tool.</a:t>
            </a:r>
          </a:p>
          <a:p>
            <a:r>
              <a:rPr lang="en-US" dirty="0"/>
              <a:t>Logistic Regression achieved a lower accuracy of 79.25%, but it correctly identified 77% of employees who had left. Its AUC score was also stronger at 0.8374, compared to 0.7719 for Random Forest.</a:t>
            </a:r>
          </a:p>
          <a:p>
            <a:r>
              <a:rPr lang="en-US" dirty="0"/>
              <a:t>The precision-recall curves tell the same story. Logistic Regression maintained a much stronger balance between precision and recall across thresholds, with an average precision of 0.6587 on the test set versus 0.5128 for Random Forest.</a:t>
            </a:r>
          </a:p>
          <a:p>
            <a:r>
              <a:rPr lang="en-US" b="0" dirty="0"/>
              <a:t>A key point is that accuracy is not the best metric for this situation and what the purpose of the model is, recall and AUC are better metrics.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To summarize: </a:t>
            </a:r>
          </a:p>
          <a:p>
            <a:r>
              <a:rPr lang="en-US" dirty="0"/>
              <a:t>The top drivers of attrition are monthly income and then followed by age. Logistic Regression is the right model for this problem. It correctly flags three out of every four at-risk employees, giving HR teams the lead time to intervene with targeted retention efforts, it could be a compensation review or some sort of check-in conversation with a manager.</a:t>
            </a:r>
          </a:p>
          <a:p>
            <a:r>
              <a:rPr lang="en-US" dirty="0"/>
              <a:t>There are limitations. The dataset is synthetic, so models would need to be retrained on real organizational data before deployment. It also reflects a single point in time, not ongoing changes.</a:t>
            </a:r>
          </a:p>
          <a:p>
            <a:r>
              <a:rPr lang="en-US" dirty="0"/>
              <a:t>Future directions include integrating real anonymized employee data, and potentially building a real-time scoring system that continuously monitors and flags at-risk employees as conditions evolve.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jpe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jpe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16.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4.svg"/><Relationship Id="rId9"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rot="162300">
            <a:off x="9385973" y="5890203"/>
            <a:ext cx="3356543" cy="0"/>
          </a:xfrm>
          <a:prstGeom prst="line">
            <a:avLst/>
          </a:prstGeom>
          <a:ln w="76200" cap="rnd">
            <a:solidFill>
              <a:srgbClr val="7CA655"/>
            </a:solidFill>
            <a:prstDash val="solid"/>
            <a:headEnd type="none" w="sm" len="sm"/>
            <a:tailEnd type="none" w="sm" len="sm"/>
          </a:ln>
        </p:spPr>
        <p:txBody>
          <a:bodyPr/>
          <a:lstStyle/>
          <a:p>
            <a:endParaRPr lang="en-US"/>
          </a:p>
        </p:txBody>
      </p:sp>
      <p:grpSp>
        <p:nvGrpSpPr>
          <p:cNvPr id="4" name="Group 4"/>
          <p:cNvGrpSpPr/>
          <p:nvPr/>
        </p:nvGrpSpPr>
        <p:grpSpPr>
          <a:xfrm>
            <a:off x="8701421" y="604276"/>
            <a:ext cx="8229600" cy="4937760"/>
            <a:chOff x="0" y="0"/>
            <a:chExt cx="10972800" cy="6583680"/>
          </a:xfrm>
        </p:grpSpPr>
        <p:sp>
          <p:nvSpPr>
            <p:cNvPr id="5" name="Freeform 5"/>
            <p:cNvSpPr/>
            <p:nvPr/>
          </p:nvSpPr>
          <p:spPr>
            <a:xfrm>
              <a:off x="0" y="0"/>
              <a:ext cx="10972800" cy="6583680"/>
            </a:xfrm>
            <a:custGeom>
              <a:avLst/>
              <a:gdLst/>
              <a:ahLst/>
              <a:cxnLst/>
              <a:rect l="l" t="t" r="r" b="b"/>
              <a:pathLst>
                <a:path w="10972800" h="6583680">
                  <a:moveTo>
                    <a:pt x="0" y="0"/>
                  </a:moveTo>
                  <a:lnTo>
                    <a:pt x="10972800" y="0"/>
                  </a:lnTo>
                  <a:lnTo>
                    <a:pt x="10972800" y="6583680"/>
                  </a:lnTo>
                  <a:lnTo>
                    <a:pt x="0" y="6583680"/>
                  </a:lnTo>
                  <a:close/>
                </a:path>
              </a:pathLst>
            </a:custGeom>
            <a:blipFill>
              <a:blip r:embed="rId3">
                <a:alphaModFix amt="0"/>
              </a:blip>
              <a:stretch>
                <a:fillRect l="-26982" r="-26982"/>
              </a:stretch>
            </a:blipFill>
          </p:spPr>
          <p:txBody>
            <a:bodyPr/>
            <a:lstStyle/>
            <a:p>
              <a:endParaRPr lang="en-US"/>
            </a:p>
          </p:txBody>
        </p:sp>
        <p:sp>
          <p:nvSpPr>
            <p:cNvPr id="6" name="TextBox 6"/>
            <p:cNvSpPr txBox="1"/>
            <p:nvPr/>
          </p:nvSpPr>
          <p:spPr>
            <a:xfrm>
              <a:off x="0" y="19050"/>
              <a:ext cx="10972800" cy="6564630"/>
            </a:xfrm>
            <a:prstGeom prst="rect">
              <a:avLst/>
            </a:prstGeom>
          </p:spPr>
          <p:txBody>
            <a:bodyPr lIns="0" tIns="0" rIns="0" bIns="0" rtlCol="0" anchor="b"/>
            <a:lstStyle/>
            <a:p>
              <a:pPr algn="l">
                <a:lnSpc>
                  <a:spcPts val="6336"/>
                </a:lnSpc>
              </a:pPr>
              <a:r>
                <a:rPr lang="en-US" sz="6600" b="1" spc="150">
                  <a:solidFill>
                    <a:srgbClr val="000000"/>
                  </a:solidFill>
                  <a:latin typeface="ITC Franklin Gothic LT Condensed Semi-Bold"/>
                  <a:ea typeface="ITC Franklin Gothic LT Condensed Semi-Bold"/>
                  <a:cs typeface="ITC Franklin Gothic LT Condensed Semi-Bold"/>
                  <a:sym typeface="ITC Franklin Gothic LT Condensed Semi-Bold"/>
                </a:rPr>
                <a:t>Predictive Analytics for Workforce Stability: Identifying Attrition Factors</a:t>
              </a:r>
            </a:p>
          </p:txBody>
        </p:sp>
      </p:grpSp>
      <p:grpSp>
        <p:nvGrpSpPr>
          <p:cNvPr id="7" name="Group 7"/>
          <p:cNvGrpSpPr/>
          <p:nvPr/>
        </p:nvGrpSpPr>
        <p:grpSpPr>
          <a:xfrm>
            <a:off x="0" y="0"/>
            <a:ext cx="8217056" cy="10287000"/>
            <a:chOff x="0" y="0"/>
            <a:chExt cx="10956074" cy="13716000"/>
          </a:xfrm>
        </p:grpSpPr>
        <p:sp>
          <p:nvSpPr>
            <p:cNvPr id="8" name="Freeform 8"/>
            <p:cNvSpPr/>
            <p:nvPr/>
          </p:nvSpPr>
          <p:spPr>
            <a:xfrm>
              <a:off x="0" y="0"/>
              <a:ext cx="10956036" cy="13716000"/>
            </a:xfrm>
            <a:custGeom>
              <a:avLst/>
              <a:gdLst/>
              <a:ahLst/>
              <a:cxnLst/>
              <a:rect l="l" t="t" r="r" b="b"/>
              <a:pathLst>
                <a:path w="10956036" h="13716000">
                  <a:moveTo>
                    <a:pt x="0" y="0"/>
                  </a:moveTo>
                  <a:lnTo>
                    <a:pt x="10956036" y="0"/>
                  </a:lnTo>
                  <a:lnTo>
                    <a:pt x="10956036" y="13716000"/>
                  </a:lnTo>
                  <a:lnTo>
                    <a:pt x="0" y="13716000"/>
                  </a:lnTo>
                  <a:lnTo>
                    <a:pt x="0" y="0"/>
                  </a:lnTo>
                  <a:close/>
                </a:path>
              </a:pathLst>
            </a:custGeom>
            <a:blipFill>
              <a:blip r:embed="rId4"/>
              <a:stretch>
                <a:fillRect/>
              </a:stretch>
            </a:blipFill>
          </p:spPr>
          <p:txBody>
            <a:bodyPr/>
            <a:lstStyle/>
            <a:p>
              <a:endParaRPr lang="en-US"/>
            </a:p>
          </p:txBody>
        </p:sp>
      </p:grpSp>
      <p:sp>
        <p:nvSpPr>
          <p:cNvPr id="9" name="TextBox 9"/>
          <p:cNvSpPr txBox="1"/>
          <p:nvPr/>
        </p:nvSpPr>
        <p:spPr>
          <a:xfrm>
            <a:off x="9235440" y="6536017"/>
            <a:ext cx="4712608" cy="1350702"/>
          </a:xfrm>
          <a:prstGeom prst="rect">
            <a:avLst/>
          </a:prstGeom>
        </p:spPr>
        <p:txBody>
          <a:bodyPr lIns="0" tIns="0" rIns="0" bIns="0" rtlCol="0" anchor="t">
            <a:spAutoFit/>
          </a:bodyPr>
          <a:lstStyle/>
          <a:p>
            <a:pPr algn="l">
              <a:lnSpc>
                <a:spcPts val="3240"/>
              </a:lnSpc>
            </a:pPr>
            <a:r>
              <a:rPr lang="en-US" sz="2700" b="1">
                <a:solidFill>
                  <a:srgbClr val="000000"/>
                </a:solidFill>
                <a:latin typeface="ITC Franklin Gothic LT Semi-Bold"/>
                <a:ea typeface="ITC Franklin Gothic LT Semi-Bold"/>
                <a:cs typeface="ITC Franklin Gothic LT Semi-Bold"/>
                <a:sym typeface="ITC Franklin Gothic LT Semi-Bold"/>
              </a:rPr>
              <a:t>Michelle Zheng</a:t>
            </a:r>
          </a:p>
          <a:p>
            <a:pPr algn="l">
              <a:lnSpc>
                <a:spcPts val="3240"/>
              </a:lnSpc>
            </a:pPr>
            <a:r>
              <a:rPr lang="en-US" sz="2700" b="1">
                <a:solidFill>
                  <a:srgbClr val="000000"/>
                </a:solidFill>
                <a:latin typeface="ITC Franklin Gothic LT Semi-Bold"/>
                <a:ea typeface="ITC Franklin Gothic LT Semi-Bold"/>
                <a:cs typeface="ITC Franklin Gothic LT Semi-Bold"/>
                <a:sym typeface="ITC Franklin Gothic LT Semi-Bold"/>
              </a:rPr>
              <a:t>Spring 2026 8W1</a:t>
            </a:r>
          </a:p>
          <a:p>
            <a:pPr algn="l">
              <a:lnSpc>
                <a:spcPts val="3240"/>
              </a:lnSpc>
            </a:pPr>
            <a:r>
              <a:rPr lang="en-US" sz="2700" b="1">
                <a:solidFill>
                  <a:srgbClr val="000000"/>
                </a:solidFill>
                <a:latin typeface="ITC Franklin Gothic LT Semi-Bold"/>
                <a:ea typeface="ITC Franklin Gothic LT Semi-Bold"/>
                <a:cs typeface="ITC Franklin Gothic LT Semi-Bold"/>
                <a:sym typeface="ITC Franklin Gothic LT Semi-Bold"/>
              </a:rPr>
              <a:t>MSDS692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44050" y="0"/>
            <a:ext cx="8743950" cy="4853407"/>
          </a:xfrm>
          <a:custGeom>
            <a:avLst/>
            <a:gdLst/>
            <a:ahLst/>
            <a:cxnLst/>
            <a:rect l="l" t="t" r="r" b="b"/>
            <a:pathLst>
              <a:path w="8743950" h="4853407">
                <a:moveTo>
                  <a:pt x="0" y="0"/>
                </a:moveTo>
                <a:lnTo>
                  <a:pt x="8743950" y="0"/>
                </a:lnTo>
                <a:lnTo>
                  <a:pt x="8743950" y="4853407"/>
                </a:lnTo>
                <a:lnTo>
                  <a:pt x="0" y="4853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AutoShape 3"/>
          <p:cNvSpPr/>
          <p:nvPr/>
        </p:nvSpPr>
        <p:spPr>
          <a:xfrm rot="156360">
            <a:off x="971869" y="2301494"/>
            <a:ext cx="3351695" cy="0"/>
          </a:xfrm>
          <a:prstGeom prst="line">
            <a:avLst/>
          </a:prstGeom>
          <a:ln w="76200" cap="rnd">
            <a:solidFill>
              <a:srgbClr val="7CA655"/>
            </a:solidFill>
            <a:prstDash val="solid"/>
            <a:headEnd type="none" w="sm" len="sm"/>
            <a:tailEnd type="none" w="sm" len="sm"/>
          </a:ln>
        </p:spPr>
        <p:txBody>
          <a:bodyPr/>
          <a:lstStyle/>
          <a:p>
            <a:endParaRPr lang="en-US"/>
          </a:p>
        </p:txBody>
      </p:sp>
      <p:sp>
        <p:nvSpPr>
          <p:cNvPr id="5" name="Freeform 5"/>
          <p:cNvSpPr/>
          <p:nvPr/>
        </p:nvSpPr>
        <p:spPr>
          <a:xfrm>
            <a:off x="891540" y="973589"/>
            <a:ext cx="10181621" cy="1061559"/>
          </a:xfrm>
          <a:custGeom>
            <a:avLst/>
            <a:gdLst/>
            <a:ahLst/>
            <a:cxnLst/>
            <a:rect l="l" t="t" r="r" b="b"/>
            <a:pathLst>
              <a:path w="13575494" h="3187014">
                <a:moveTo>
                  <a:pt x="0" y="0"/>
                </a:moveTo>
                <a:lnTo>
                  <a:pt x="13575494" y="0"/>
                </a:lnTo>
                <a:lnTo>
                  <a:pt x="13575494" y="3187014"/>
                </a:lnTo>
                <a:lnTo>
                  <a:pt x="0" y="3187014"/>
                </a:lnTo>
                <a:close/>
              </a:path>
            </a:pathLst>
          </a:custGeom>
          <a:blipFill>
            <a:blip r:embed="rId5">
              <a:alphaModFix amt="0"/>
            </a:blip>
            <a:stretch>
              <a:fillRect t="-32999" b="-32999"/>
            </a:stretch>
          </a:blipFill>
        </p:spPr>
        <p:txBody>
          <a:bodyPr/>
          <a:lstStyle/>
          <a:p>
            <a:pPr marL="0" marR="0" lvl="0" indent="0" defTabSz="914400" rtl="0" eaLnBrk="1" fontAlgn="auto" latinLnBrk="0" hangingPunct="1">
              <a:lnSpc>
                <a:spcPts val="6336"/>
              </a:lnSpc>
              <a:spcBef>
                <a:spcPts val="0"/>
              </a:spcBef>
              <a:spcAft>
                <a:spcPts val="0"/>
              </a:spcAft>
              <a:buClrTx/>
              <a:buSzTx/>
              <a:buFontTx/>
              <a:buNone/>
              <a:tabLst/>
              <a:defRPr/>
            </a:pPr>
            <a:r>
              <a:rPr kumimoji="0" lang="en-US" sz="6600" b="1" i="0" u="none" strike="noStrike" kern="1200" cap="none" spc="75" normalizeH="0" baseline="0" noProof="0" dirty="0">
                <a:ln>
                  <a:noFill/>
                </a:ln>
                <a:solidFill>
                  <a:srgbClr val="000000"/>
                </a:solidFill>
                <a:effectLst/>
                <a:uLnTx/>
                <a:uFillTx/>
                <a:latin typeface="ITC Franklin Gothic LT Condensed Semi-Bold"/>
                <a:ea typeface="ITC Franklin Gothic LT Condensed Semi-Bold"/>
                <a:cs typeface="ITC Franklin Gothic LT Condensed Semi-Bold"/>
                <a:sym typeface="ITC Franklin Gothic LT Condensed Semi-Bold"/>
              </a:rPr>
              <a:t>What is employee attrition?</a:t>
            </a:r>
          </a:p>
        </p:txBody>
      </p:sp>
      <p:sp>
        <p:nvSpPr>
          <p:cNvPr id="7" name="TextBox 7"/>
          <p:cNvSpPr txBox="1"/>
          <p:nvPr/>
        </p:nvSpPr>
        <p:spPr>
          <a:xfrm>
            <a:off x="685800" y="3064050"/>
            <a:ext cx="10876112" cy="1258806"/>
          </a:xfrm>
          <a:prstGeom prst="rect">
            <a:avLst/>
          </a:prstGeom>
        </p:spPr>
        <p:txBody>
          <a:bodyPr lIns="0" tIns="0" rIns="0" bIns="0" rtlCol="0" anchor="t">
            <a:spAutoFit/>
          </a:bodyPr>
          <a:lstStyle/>
          <a:p>
            <a:pPr marL="573117" lvl="1" indent="-286559" algn="l">
              <a:lnSpc>
                <a:spcPts val="2432"/>
              </a:lnSpc>
              <a:buFont typeface="Arial"/>
              <a:buChar char="•"/>
            </a:pPr>
            <a:r>
              <a:rPr lang="en-US" sz="3166" dirty="0">
                <a:solidFill>
                  <a:srgbClr val="000000"/>
                </a:solidFill>
                <a:latin typeface="ITC Franklin Gothic LT" panose="020B0604020202020204" charset="0"/>
                <a:ea typeface="ITC Franklin Gothic LT"/>
                <a:cs typeface="ITC Franklin Gothic LT"/>
                <a:sym typeface="ITC Franklin Gothic LT"/>
              </a:rPr>
              <a:t>Employee leaves &amp; position not immediately replaced w/ new hire</a:t>
            </a:r>
          </a:p>
          <a:p>
            <a:pPr marL="286558" lvl="1" algn="l">
              <a:lnSpc>
                <a:spcPts val="2432"/>
              </a:lnSpc>
            </a:pPr>
            <a:endParaRPr lang="en-US" sz="3166" dirty="0">
              <a:solidFill>
                <a:srgbClr val="000000"/>
              </a:solidFill>
              <a:latin typeface="ITC Franklin Gothic LT" panose="020B0604020202020204" charset="0"/>
              <a:ea typeface="ITC Franklin Gothic LT"/>
              <a:cs typeface="ITC Franklin Gothic LT"/>
              <a:sym typeface="ITC Franklin Gothic LT"/>
            </a:endParaRPr>
          </a:p>
          <a:p>
            <a:pPr marL="573117" lvl="1" indent="-286559" algn="l">
              <a:lnSpc>
                <a:spcPts val="2432"/>
              </a:lnSpc>
              <a:buFont typeface="Arial"/>
              <a:buChar char="•"/>
            </a:pPr>
            <a:endParaRPr lang="en-US" sz="3166" dirty="0">
              <a:solidFill>
                <a:srgbClr val="000000"/>
              </a:solidFill>
              <a:latin typeface="ITC Franklin Gothic LT" panose="020B0604020202020204" charset="0"/>
              <a:ea typeface="Arimo"/>
              <a:cs typeface="Arimo"/>
              <a:sym typeface="Arimo"/>
            </a:endParaRPr>
          </a:p>
        </p:txBody>
      </p:sp>
      <p:sp>
        <p:nvSpPr>
          <p:cNvPr id="15" name="TextBox 14">
            <a:extLst>
              <a:ext uri="{FF2B5EF4-FFF2-40B4-BE49-F238E27FC236}">
                <a16:creationId xmlns:a16="http://schemas.microsoft.com/office/drawing/2014/main" id="{582B8B3A-845F-DCE1-38DA-9D95DB8F7E7E}"/>
              </a:ext>
            </a:extLst>
          </p:cNvPr>
          <p:cNvSpPr txBox="1"/>
          <p:nvPr/>
        </p:nvSpPr>
        <p:spPr>
          <a:xfrm>
            <a:off x="973602" y="4205799"/>
            <a:ext cx="2836398" cy="1257908"/>
          </a:xfrm>
          <a:prstGeom prst="rect">
            <a:avLst/>
          </a:prstGeom>
          <a:noFill/>
        </p:spPr>
        <p:txBody>
          <a:bodyPr wrap="square">
            <a:spAutoFit/>
          </a:bodyPr>
          <a:lstStyle/>
          <a:p>
            <a:pPr marL="1020531" lvl="2" indent="-285750" algn="l">
              <a:lnSpc>
                <a:spcPts val="2280"/>
              </a:lnSpc>
              <a:buFont typeface="Arial" panose="020B0604020202020204" pitchFamily="34" charset="0"/>
              <a:buChar char="•"/>
            </a:pPr>
            <a:r>
              <a:rPr lang="en-US" sz="1800" dirty="0">
                <a:solidFill>
                  <a:srgbClr val="000000"/>
                </a:solidFill>
                <a:latin typeface="ITC Franklin Gothic LT" panose="020B0604020202020204" charset="0"/>
                <a:ea typeface="ITC Franklin Gothic LT"/>
                <a:cs typeface="ITC Franklin Gothic LT"/>
                <a:sym typeface="ITC Franklin Gothic LT"/>
              </a:rPr>
              <a:t>Voluntary</a:t>
            </a:r>
          </a:p>
          <a:p>
            <a:pPr marL="1477731" lvl="3" indent="-285750">
              <a:lnSpc>
                <a:spcPts val="2280"/>
              </a:lnSpc>
              <a:buFont typeface="Arial" panose="020B0604020202020204" pitchFamily="34" charset="0"/>
              <a:buChar char="•"/>
            </a:pPr>
            <a:r>
              <a:rPr lang="en-US" dirty="0">
                <a:solidFill>
                  <a:srgbClr val="000000"/>
                </a:solidFill>
                <a:latin typeface="ITC Franklin Gothic LT" panose="020B0604020202020204" charset="0"/>
                <a:ea typeface="ITC Franklin Gothic LT"/>
                <a:cs typeface="ITC Franklin Gothic LT"/>
                <a:sym typeface="ITC Franklin Gothic LT"/>
              </a:rPr>
              <a:t>Quitting</a:t>
            </a:r>
          </a:p>
          <a:p>
            <a:pPr marL="1477731" lvl="3" indent="-285750">
              <a:lnSpc>
                <a:spcPts val="2280"/>
              </a:lnSpc>
              <a:buFont typeface="Arial" panose="020B0604020202020204" pitchFamily="34" charset="0"/>
              <a:buChar char="•"/>
            </a:pPr>
            <a:r>
              <a:rPr lang="en-US" dirty="0">
                <a:solidFill>
                  <a:srgbClr val="000000"/>
                </a:solidFill>
                <a:latin typeface="ITC Franklin Gothic LT" panose="020B0604020202020204" charset="0"/>
                <a:ea typeface="ITC Franklin Gothic LT"/>
                <a:cs typeface="ITC Franklin Gothic LT"/>
                <a:sym typeface="ITC Franklin Gothic LT"/>
              </a:rPr>
              <a:t>Retirement</a:t>
            </a:r>
          </a:p>
          <a:p>
            <a:pPr marL="1020531" lvl="2" indent="-285750" algn="l">
              <a:lnSpc>
                <a:spcPts val="2280"/>
              </a:lnSpc>
              <a:buFont typeface="Arial" panose="020B0604020202020204" pitchFamily="34" charset="0"/>
              <a:buChar char="•"/>
            </a:pPr>
            <a:endParaRPr lang="en-US" sz="1800" dirty="0">
              <a:solidFill>
                <a:srgbClr val="000000"/>
              </a:solidFill>
              <a:latin typeface="ITC Franklin Gothic LT" panose="020B0604020202020204" charset="0"/>
              <a:ea typeface="ITC Franklin Gothic LT"/>
              <a:cs typeface="ITC Franklin Gothic LT"/>
              <a:sym typeface="ITC Franklin Gothic LT"/>
            </a:endParaRPr>
          </a:p>
        </p:txBody>
      </p:sp>
      <p:sp>
        <p:nvSpPr>
          <p:cNvPr id="17" name="TextBox 16">
            <a:extLst>
              <a:ext uri="{FF2B5EF4-FFF2-40B4-BE49-F238E27FC236}">
                <a16:creationId xmlns:a16="http://schemas.microsoft.com/office/drawing/2014/main" id="{D61A79A4-1CCD-E6DD-505C-49EE9EC82823}"/>
              </a:ext>
            </a:extLst>
          </p:cNvPr>
          <p:cNvSpPr txBox="1"/>
          <p:nvPr/>
        </p:nvSpPr>
        <p:spPr>
          <a:xfrm>
            <a:off x="3604260" y="4222064"/>
            <a:ext cx="2208334" cy="923330"/>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000000"/>
                </a:solidFill>
                <a:latin typeface="ITC Franklin Gothic LT" panose="020B0604020202020204" charset="0"/>
                <a:ea typeface="ITC Franklin Gothic LT"/>
                <a:cs typeface="ITC Franklin Gothic LT"/>
                <a:sym typeface="ITC Franklin Gothic LT"/>
              </a:rPr>
              <a:t>Involuntary</a:t>
            </a:r>
          </a:p>
          <a:p>
            <a:pPr marL="742950" lvl="1" indent="-285750">
              <a:buFont typeface="Arial" panose="020B0604020202020204" pitchFamily="34" charset="0"/>
              <a:buChar char="•"/>
            </a:pPr>
            <a:r>
              <a:rPr lang="en-US" dirty="0">
                <a:latin typeface="ITC Franklin Gothic LT" panose="020B0604020202020204" charset="0"/>
              </a:rPr>
              <a:t>Layoffs</a:t>
            </a:r>
          </a:p>
          <a:p>
            <a:pPr marL="742950" lvl="1" indent="-285750">
              <a:buFont typeface="Arial" panose="020B0604020202020204" pitchFamily="34" charset="0"/>
              <a:buChar char="•"/>
            </a:pPr>
            <a:r>
              <a:rPr lang="en-US" dirty="0">
                <a:latin typeface="ITC Franklin Gothic LT" panose="020B0604020202020204" charset="0"/>
              </a:rPr>
              <a:t>Termination</a:t>
            </a:r>
          </a:p>
        </p:txBody>
      </p:sp>
      <p:cxnSp>
        <p:nvCxnSpPr>
          <p:cNvPr id="21" name="Straight Arrow Connector 20">
            <a:extLst>
              <a:ext uri="{FF2B5EF4-FFF2-40B4-BE49-F238E27FC236}">
                <a16:creationId xmlns:a16="http://schemas.microsoft.com/office/drawing/2014/main" id="{C1C49D4E-62E5-9118-CC2F-981A81D7F833}"/>
              </a:ext>
            </a:extLst>
          </p:cNvPr>
          <p:cNvCxnSpPr>
            <a:cxnSpLocks/>
          </p:cNvCxnSpPr>
          <p:nvPr/>
        </p:nvCxnSpPr>
        <p:spPr>
          <a:xfrm flipH="1">
            <a:off x="2647716" y="3389726"/>
            <a:ext cx="956544" cy="8524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8D7E5EB-0ABF-4ADE-2034-78CCCD30DEC3}"/>
              </a:ext>
            </a:extLst>
          </p:cNvPr>
          <p:cNvCxnSpPr>
            <a:cxnSpLocks/>
          </p:cNvCxnSpPr>
          <p:nvPr/>
        </p:nvCxnSpPr>
        <p:spPr>
          <a:xfrm>
            <a:off x="3604260" y="3389726"/>
            <a:ext cx="761267" cy="832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2" name="Graphic 31" descr="Arrow Up with solid fill">
            <a:extLst>
              <a:ext uri="{FF2B5EF4-FFF2-40B4-BE49-F238E27FC236}">
                <a16:creationId xmlns:a16="http://schemas.microsoft.com/office/drawing/2014/main" id="{32B71952-2460-FF1F-3E41-EC696D1A71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6448" y="6136731"/>
            <a:ext cx="914400" cy="914400"/>
          </a:xfrm>
          <a:prstGeom prst="rect">
            <a:avLst/>
          </a:prstGeom>
        </p:spPr>
      </p:pic>
      <p:sp>
        <p:nvSpPr>
          <p:cNvPr id="34" name="TextBox 33">
            <a:extLst>
              <a:ext uri="{FF2B5EF4-FFF2-40B4-BE49-F238E27FC236}">
                <a16:creationId xmlns:a16="http://schemas.microsoft.com/office/drawing/2014/main" id="{0FCB224B-F59D-B2D8-E8E5-E9ECEEF48A93}"/>
              </a:ext>
            </a:extLst>
          </p:cNvPr>
          <p:cNvSpPr txBox="1"/>
          <p:nvPr/>
        </p:nvSpPr>
        <p:spPr>
          <a:xfrm>
            <a:off x="1273799" y="6125219"/>
            <a:ext cx="2130642" cy="830997"/>
          </a:xfrm>
          <a:prstGeom prst="rect">
            <a:avLst/>
          </a:prstGeom>
          <a:noFill/>
        </p:spPr>
        <p:txBody>
          <a:bodyPr wrap="square">
            <a:spAutoFit/>
          </a:bodyPr>
          <a:lstStyle/>
          <a:p>
            <a:pPr algn="ctr"/>
            <a:r>
              <a:rPr lang="en-US" sz="2400" dirty="0">
                <a:solidFill>
                  <a:srgbClr val="000000"/>
                </a:solidFill>
                <a:latin typeface="ITC Franklin Gothic LT" panose="020B0604020202020204" charset="0"/>
                <a:ea typeface="Arimo"/>
                <a:cs typeface="Arimo"/>
                <a:sym typeface="Arimo"/>
              </a:rPr>
              <a:t>employee attrition </a:t>
            </a:r>
            <a:endParaRPr lang="en-US" sz="2400" dirty="0"/>
          </a:p>
        </p:txBody>
      </p:sp>
      <p:sp>
        <p:nvSpPr>
          <p:cNvPr id="35" name="Equals 34">
            <a:extLst>
              <a:ext uri="{FF2B5EF4-FFF2-40B4-BE49-F238E27FC236}">
                <a16:creationId xmlns:a16="http://schemas.microsoft.com/office/drawing/2014/main" id="{82B76BC5-D6EB-B5FD-8F7F-11DC9C5DAE84}"/>
              </a:ext>
            </a:extLst>
          </p:cNvPr>
          <p:cNvSpPr/>
          <p:nvPr/>
        </p:nvSpPr>
        <p:spPr>
          <a:xfrm>
            <a:off x="3611589" y="6272534"/>
            <a:ext cx="914400" cy="510414"/>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BCD0B3DF-3686-7F16-227E-416B2B15AF31}"/>
              </a:ext>
            </a:extLst>
          </p:cNvPr>
          <p:cNvSpPr txBox="1"/>
          <p:nvPr/>
        </p:nvSpPr>
        <p:spPr>
          <a:xfrm>
            <a:off x="5044674" y="6318630"/>
            <a:ext cx="2130642" cy="461665"/>
          </a:xfrm>
          <a:prstGeom prst="rect">
            <a:avLst/>
          </a:prstGeom>
          <a:noFill/>
        </p:spPr>
        <p:txBody>
          <a:bodyPr wrap="square">
            <a:spAutoFit/>
          </a:bodyPr>
          <a:lstStyle/>
          <a:p>
            <a:pPr algn="ctr"/>
            <a:r>
              <a:rPr lang="en-US" sz="2400" dirty="0">
                <a:solidFill>
                  <a:srgbClr val="000000"/>
                </a:solidFill>
                <a:latin typeface="ITC Franklin Gothic LT" panose="020B0604020202020204" charset="0"/>
                <a:ea typeface="Arimo"/>
                <a:cs typeface="Arimo"/>
                <a:sym typeface="Arimo"/>
              </a:rPr>
              <a:t>hiring cost </a:t>
            </a:r>
            <a:endParaRPr lang="en-US" sz="2400" dirty="0"/>
          </a:p>
        </p:txBody>
      </p:sp>
      <p:pic>
        <p:nvPicPr>
          <p:cNvPr id="37" name="Graphic 36" descr="Arrow Up with solid fill">
            <a:extLst>
              <a:ext uri="{FF2B5EF4-FFF2-40B4-BE49-F238E27FC236}">
                <a16:creationId xmlns:a16="http://schemas.microsoft.com/office/drawing/2014/main" id="{BF2EDD17-72D6-A86B-FCCA-98D4CCB6F5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8203" y="6140548"/>
            <a:ext cx="914400" cy="914400"/>
          </a:xfrm>
          <a:prstGeom prst="rect">
            <a:avLst/>
          </a:prstGeom>
        </p:spPr>
      </p:pic>
      <p:sp>
        <p:nvSpPr>
          <p:cNvPr id="38" name="Plus Sign 37">
            <a:extLst>
              <a:ext uri="{FF2B5EF4-FFF2-40B4-BE49-F238E27FC236}">
                <a16:creationId xmlns:a16="http://schemas.microsoft.com/office/drawing/2014/main" id="{7A35BD22-FB3D-3111-AFA0-9BE83B96BC2E}"/>
              </a:ext>
            </a:extLst>
          </p:cNvPr>
          <p:cNvSpPr/>
          <p:nvPr/>
        </p:nvSpPr>
        <p:spPr>
          <a:xfrm>
            <a:off x="7600186" y="6041816"/>
            <a:ext cx="914400" cy="914400"/>
          </a:xfrm>
          <a:prstGeom prst="mathPlus">
            <a:avLst>
              <a:gd name="adj1" fmla="val 1198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9" name="Graphic 38" descr="Arrow Up with solid fill">
            <a:extLst>
              <a:ext uri="{FF2B5EF4-FFF2-40B4-BE49-F238E27FC236}">
                <a16:creationId xmlns:a16="http://schemas.microsoft.com/office/drawing/2014/main" id="{7085CB1E-70DD-1A09-8363-458E282C9B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8792308" y="6136731"/>
            <a:ext cx="914400" cy="914400"/>
          </a:xfrm>
          <a:prstGeom prst="rect">
            <a:avLst/>
          </a:prstGeom>
        </p:spPr>
      </p:pic>
      <p:sp>
        <p:nvSpPr>
          <p:cNvPr id="41" name="TextBox 40">
            <a:extLst>
              <a:ext uri="{FF2B5EF4-FFF2-40B4-BE49-F238E27FC236}">
                <a16:creationId xmlns:a16="http://schemas.microsoft.com/office/drawing/2014/main" id="{CC5E91A7-2759-C883-E6B3-AC36A8BAE6DF}"/>
              </a:ext>
            </a:extLst>
          </p:cNvPr>
          <p:cNvSpPr txBox="1"/>
          <p:nvPr/>
        </p:nvSpPr>
        <p:spPr>
          <a:xfrm>
            <a:off x="9231527" y="6112242"/>
            <a:ext cx="2133600" cy="830997"/>
          </a:xfrm>
          <a:prstGeom prst="rect">
            <a:avLst/>
          </a:prstGeom>
          <a:noFill/>
        </p:spPr>
        <p:txBody>
          <a:bodyPr wrap="square">
            <a:spAutoFit/>
          </a:bodyPr>
          <a:lstStyle/>
          <a:p>
            <a:pPr algn="ctr"/>
            <a:r>
              <a:rPr lang="en-US" sz="2400" dirty="0">
                <a:solidFill>
                  <a:srgbClr val="000000"/>
                </a:solidFill>
                <a:latin typeface="ITC Franklin Gothic LT" panose="020B0604020202020204" charset="0"/>
                <a:ea typeface="Arimo"/>
                <a:cs typeface="Arimo"/>
                <a:sym typeface="Arimo"/>
              </a:rPr>
              <a:t>team productivity</a:t>
            </a:r>
            <a:endParaRPr lang="en-US" sz="2400" dirty="0"/>
          </a:p>
        </p:txBody>
      </p:sp>
      <p:sp>
        <p:nvSpPr>
          <p:cNvPr id="42" name="Flowchart: Alternate Process 41">
            <a:extLst>
              <a:ext uri="{FF2B5EF4-FFF2-40B4-BE49-F238E27FC236}">
                <a16:creationId xmlns:a16="http://schemas.microsoft.com/office/drawing/2014/main" id="{1CB65FAA-BC2D-3DE5-D946-37D768903D73}"/>
              </a:ext>
            </a:extLst>
          </p:cNvPr>
          <p:cNvSpPr/>
          <p:nvPr/>
        </p:nvSpPr>
        <p:spPr>
          <a:xfrm>
            <a:off x="891540" y="5920509"/>
            <a:ext cx="2572819" cy="1257908"/>
          </a:xfrm>
          <a:prstGeom prst="flowChartAlternateProcess">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Alternate Process 42">
            <a:extLst>
              <a:ext uri="{FF2B5EF4-FFF2-40B4-BE49-F238E27FC236}">
                <a16:creationId xmlns:a16="http://schemas.microsoft.com/office/drawing/2014/main" id="{940595D1-E8E9-1581-60D3-9C4A5DE50E4E}"/>
              </a:ext>
            </a:extLst>
          </p:cNvPr>
          <p:cNvSpPr/>
          <p:nvPr/>
        </p:nvSpPr>
        <p:spPr>
          <a:xfrm>
            <a:off x="4673219" y="5920509"/>
            <a:ext cx="2572819" cy="1257908"/>
          </a:xfrm>
          <a:prstGeom prst="flowChartAlternateProcess">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lowchart: Alternate Process 43">
            <a:extLst>
              <a:ext uri="{FF2B5EF4-FFF2-40B4-BE49-F238E27FC236}">
                <a16:creationId xmlns:a16="http://schemas.microsoft.com/office/drawing/2014/main" id="{90EE76C3-CC94-5CB8-AFD8-D2D72BA66D13}"/>
              </a:ext>
            </a:extLst>
          </p:cNvPr>
          <p:cNvSpPr/>
          <p:nvPr/>
        </p:nvSpPr>
        <p:spPr>
          <a:xfrm>
            <a:off x="8750881" y="5920509"/>
            <a:ext cx="2572819" cy="1257908"/>
          </a:xfrm>
          <a:prstGeom prst="flowChartAlternateProcess">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7">
            <a:extLst>
              <a:ext uri="{FF2B5EF4-FFF2-40B4-BE49-F238E27FC236}">
                <a16:creationId xmlns:a16="http://schemas.microsoft.com/office/drawing/2014/main" id="{71F891EC-6673-C074-61BA-B92F7DCBD5A1}"/>
              </a:ext>
            </a:extLst>
          </p:cNvPr>
          <p:cNvSpPr txBox="1"/>
          <p:nvPr/>
        </p:nvSpPr>
        <p:spPr>
          <a:xfrm>
            <a:off x="732296" y="8151894"/>
            <a:ext cx="14196060" cy="1258806"/>
          </a:xfrm>
          <a:prstGeom prst="rect">
            <a:avLst/>
          </a:prstGeom>
        </p:spPr>
        <p:txBody>
          <a:bodyPr wrap="square" lIns="0" tIns="0" rIns="0" bIns="0" rtlCol="0" anchor="t">
            <a:spAutoFit/>
          </a:bodyPr>
          <a:lstStyle/>
          <a:p>
            <a:pPr marL="573117" lvl="1" indent="-286559" algn="l">
              <a:lnSpc>
                <a:spcPts val="2432"/>
              </a:lnSpc>
              <a:buFont typeface="Arial"/>
              <a:buChar char="•"/>
            </a:pPr>
            <a:r>
              <a:rPr lang="en-US" sz="3166" dirty="0">
                <a:solidFill>
                  <a:srgbClr val="000000"/>
                </a:solidFill>
                <a:latin typeface="ITC Franklin Gothic LT" panose="020B0604020202020204" charset="0"/>
                <a:ea typeface="ITC Franklin Gothic LT"/>
                <a:cs typeface="ITC Franklin Gothic LT"/>
                <a:sym typeface="ITC Franklin Gothic LT"/>
              </a:rPr>
              <a:t>Motivation? Current role in department conducting new hire 5 </a:t>
            </a:r>
            <a:r>
              <a:rPr lang="en-US" sz="3166" dirty="0" err="1">
                <a:solidFill>
                  <a:srgbClr val="000000"/>
                </a:solidFill>
                <a:latin typeface="ITC Franklin Gothic LT" panose="020B0604020202020204" charset="0"/>
                <a:ea typeface="ITC Franklin Gothic LT"/>
                <a:cs typeface="ITC Franklin Gothic LT"/>
                <a:sym typeface="ITC Franklin Gothic LT"/>
              </a:rPr>
              <a:t>wk</a:t>
            </a:r>
            <a:r>
              <a:rPr lang="en-US" sz="3166" dirty="0">
                <a:solidFill>
                  <a:srgbClr val="000000"/>
                </a:solidFill>
                <a:latin typeface="ITC Franklin Gothic LT" panose="020B0604020202020204" charset="0"/>
                <a:ea typeface="ITC Franklin Gothic LT"/>
                <a:cs typeface="ITC Franklin Gothic LT"/>
                <a:sym typeface="ITC Franklin Gothic LT"/>
              </a:rPr>
              <a:t> basic training course, typically 20% stayed after 6 </a:t>
            </a:r>
            <a:r>
              <a:rPr lang="en-US" sz="3166" dirty="0" err="1">
                <a:solidFill>
                  <a:srgbClr val="000000"/>
                </a:solidFill>
                <a:latin typeface="ITC Franklin Gothic LT" panose="020B0604020202020204" charset="0"/>
                <a:ea typeface="ITC Franklin Gothic LT"/>
                <a:cs typeface="ITC Franklin Gothic LT"/>
                <a:sym typeface="ITC Franklin Gothic LT"/>
              </a:rPr>
              <a:t>mths</a:t>
            </a:r>
            <a:endParaRPr lang="en-US" sz="3166" dirty="0">
              <a:solidFill>
                <a:srgbClr val="000000"/>
              </a:solidFill>
              <a:latin typeface="ITC Franklin Gothic LT" panose="020B0604020202020204" charset="0"/>
              <a:ea typeface="ITC Franklin Gothic LT"/>
              <a:cs typeface="ITC Franklin Gothic LT"/>
              <a:sym typeface="ITC Franklin Gothic LT"/>
            </a:endParaRPr>
          </a:p>
          <a:p>
            <a:pPr marL="286558" lvl="1" algn="l">
              <a:lnSpc>
                <a:spcPts val="2432"/>
              </a:lnSpc>
            </a:pPr>
            <a:endParaRPr lang="en-US" sz="3166" dirty="0">
              <a:solidFill>
                <a:srgbClr val="000000"/>
              </a:solidFill>
              <a:latin typeface="ITC Franklin Gothic LT" panose="020B0604020202020204" charset="0"/>
              <a:ea typeface="ITC Franklin Gothic LT"/>
              <a:cs typeface="ITC Franklin Gothic LT"/>
              <a:sym typeface="ITC Franklin Gothic LT"/>
            </a:endParaRPr>
          </a:p>
          <a:p>
            <a:pPr marL="573117" lvl="1" indent="-286559" algn="l">
              <a:lnSpc>
                <a:spcPts val="2432"/>
              </a:lnSpc>
              <a:buFont typeface="Arial"/>
              <a:buChar char="•"/>
            </a:pPr>
            <a:endParaRPr lang="en-US" sz="3166" dirty="0">
              <a:solidFill>
                <a:srgbClr val="000000"/>
              </a:solidFill>
              <a:latin typeface="ITC Franklin Gothic LT" panose="020B0604020202020204" charset="0"/>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62300">
            <a:off x="845415" y="2096480"/>
            <a:ext cx="3356543" cy="0"/>
          </a:xfrm>
          <a:prstGeom prst="line">
            <a:avLst/>
          </a:prstGeom>
          <a:ln w="76200" cap="rnd">
            <a:solidFill>
              <a:srgbClr val="7CA655"/>
            </a:solidFill>
            <a:prstDash val="solid"/>
            <a:headEnd type="none" w="sm" len="sm"/>
            <a:tailEnd type="none" w="sm" len="sm"/>
          </a:ln>
        </p:spPr>
        <p:txBody>
          <a:bodyPr/>
          <a:lstStyle/>
          <a:p>
            <a:endParaRPr lang="en-US"/>
          </a:p>
        </p:txBody>
      </p:sp>
      <p:sp>
        <p:nvSpPr>
          <p:cNvPr id="3" name="Freeform 3"/>
          <p:cNvSpPr/>
          <p:nvPr/>
        </p:nvSpPr>
        <p:spPr>
          <a:xfrm>
            <a:off x="0" y="5850198"/>
            <a:ext cx="4438840" cy="4438840"/>
          </a:xfrm>
          <a:custGeom>
            <a:avLst/>
            <a:gdLst/>
            <a:ahLst/>
            <a:cxnLst/>
            <a:rect l="l" t="t" r="r" b="b"/>
            <a:pathLst>
              <a:path w="4438840" h="4438840">
                <a:moveTo>
                  <a:pt x="0" y="0"/>
                </a:moveTo>
                <a:lnTo>
                  <a:pt x="4438840" y="0"/>
                </a:lnTo>
                <a:lnTo>
                  <a:pt x="4438840" y="4438840"/>
                </a:lnTo>
                <a:lnTo>
                  <a:pt x="0" y="4438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856370" y="680139"/>
            <a:ext cx="16310610" cy="1036320"/>
          </a:xfrm>
          <a:prstGeom prst="rect">
            <a:avLst/>
          </a:prstGeom>
        </p:spPr>
        <p:txBody>
          <a:bodyPr lIns="0" tIns="0" rIns="0" bIns="0" rtlCol="0" anchor="b"/>
          <a:lstStyle/>
          <a:p>
            <a:pPr>
              <a:lnSpc>
                <a:spcPts val="6336"/>
              </a:lnSpc>
            </a:pPr>
            <a:r>
              <a:rPr lang="en-US" sz="66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Employee Data &amp; Ethical Concerns</a:t>
            </a:r>
          </a:p>
        </p:txBody>
      </p:sp>
      <p:sp>
        <p:nvSpPr>
          <p:cNvPr id="7" name="TextBox 7"/>
          <p:cNvSpPr txBox="1"/>
          <p:nvPr/>
        </p:nvSpPr>
        <p:spPr>
          <a:xfrm>
            <a:off x="714960" y="2476501"/>
            <a:ext cx="16593430" cy="4924425"/>
          </a:xfrm>
          <a:prstGeom prst="rect">
            <a:avLst/>
          </a:prstGeom>
        </p:spPr>
        <p:txBody>
          <a:bodyPr wrap="square" lIns="0" tIns="0" rIns="0" bIns="0" rtlCol="0" anchor="t">
            <a:spAutoFit/>
          </a:bodyPr>
          <a:lstStyle/>
          <a:p>
            <a:pPr marL="542925" lvl="1" indent="-271462" algn="l">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Dataset: synthetic HR Employee Attrition &amp; Performance dataset from IBM</a:t>
            </a:r>
          </a:p>
          <a:p>
            <a:pPr marL="542925" lvl="1" indent="-271462" algn="l">
              <a:lnSpc>
                <a:spcPts val="3240"/>
              </a:lnSpc>
              <a:buFont typeface="Arial"/>
              <a:buChar char="•"/>
            </a:pPr>
            <a:endParaRPr lang="en-US" sz="3000" dirty="0">
              <a:solidFill>
                <a:srgbClr val="000000"/>
              </a:solidFill>
              <a:latin typeface="ITC Franklin Gothic LT"/>
              <a:ea typeface="ITC Franklin Gothic LT"/>
              <a:cs typeface="ITC Franklin Gothic LT"/>
              <a:sym typeface="ITC Franklin Gothic LT"/>
            </a:endParaRPr>
          </a:p>
          <a:p>
            <a:pPr marL="542925" lvl="1" indent="-271462" algn="l">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Difficult to obtain real employee data </a:t>
            </a:r>
          </a:p>
          <a:p>
            <a:pPr marL="1000125" lvl="2" indent="-271462">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companies do not make personnel records public</a:t>
            </a:r>
          </a:p>
          <a:p>
            <a:pPr marL="1000125" lvl="2" indent="-271462">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accessing non-synthetic demographic data requires NDA making it inaccessible for open research</a:t>
            </a:r>
          </a:p>
          <a:p>
            <a:pPr marL="1000125" lvl="2" indent="-271462">
              <a:lnSpc>
                <a:spcPts val="3240"/>
              </a:lnSpc>
              <a:buFont typeface="Arial"/>
              <a:buChar char="•"/>
            </a:pPr>
            <a:endParaRPr lang="en-US" sz="3000" dirty="0">
              <a:solidFill>
                <a:srgbClr val="000000"/>
              </a:solidFill>
              <a:latin typeface="ITC Franklin Gothic LT"/>
              <a:ea typeface="ITC Franklin Gothic LT"/>
              <a:cs typeface="ITC Franklin Gothic LT"/>
              <a:sym typeface="ITC Franklin Gothic LT"/>
            </a:endParaRPr>
          </a:p>
          <a:p>
            <a:pPr marL="542925" lvl="1" indent="-271462" algn="l">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Anonymized personal data is vulnerable to re-identification</a:t>
            </a:r>
          </a:p>
          <a:p>
            <a:pPr marL="1146429" lvl="2" indent="-382143" algn="l">
              <a:lnSpc>
                <a:spcPts val="3240"/>
              </a:lnSpc>
              <a:buFont typeface="Arial"/>
              <a:buChar char="⚬"/>
            </a:pPr>
            <a:r>
              <a:rPr lang="en-US" sz="3000" dirty="0">
                <a:solidFill>
                  <a:srgbClr val="000000"/>
                </a:solidFill>
                <a:latin typeface="ITC Franklin Gothic LT"/>
                <a:ea typeface="ITC Franklin Gothic LT"/>
                <a:cs typeface="ITC Franklin Gothic LT"/>
                <a:sym typeface="ITC Franklin Gothic LT"/>
              </a:rPr>
              <a:t>Netflix public dataset challenge: researchers were able to reverse-engineer anonymized customer records to identify individuals</a:t>
            </a:r>
          </a:p>
          <a:p>
            <a:pPr marL="1146429" lvl="2" indent="-382143" algn="l">
              <a:lnSpc>
                <a:spcPts val="3240"/>
              </a:lnSpc>
            </a:pPr>
            <a:endParaRPr lang="en-US" sz="3000" dirty="0">
              <a:solidFill>
                <a:srgbClr val="000000"/>
              </a:solidFill>
              <a:latin typeface="ITC Franklin Gothic LT"/>
              <a:ea typeface="ITC Franklin Gothic LT"/>
              <a:cs typeface="ITC Franklin Gothic LT"/>
              <a:sym typeface="ITC Franklin Gothic LT"/>
            </a:endParaRPr>
          </a:p>
          <a:p>
            <a:pPr marL="1146429" lvl="2" indent="-382143" algn="l">
              <a:lnSpc>
                <a:spcPts val="3240"/>
              </a:lnSpc>
            </a:pPr>
            <a:endParaRPr lang="en-US" sz="3000" dirty="0">
              <a:solidFill>
                <a:srgbClr val="000000"/>
              </a:solidFill>
              <a:latin typeface="ITC Franklin Gothic LT"/>
              <a:ea typeface="ITC Franklin Gothic LT"/>
              <a:cs typeface="ITC Franklin Gothic LT"/>
              <a:sym typeface="ITC Franklin Gothic LT"/>
            </a:endParaRPr>
          </a:p>
        </p:txBody>
      </p:sp>
      <p:sp>
        <p:nvSpPr>
          <p:cNvPr id="8" name="Freeform 8"/>
          <p:cNvSpPr/>
          <p:nvPr/>
        </p:nvSpPr>
        <p:spPr>
          <a:xfrm>
            <a:off x="0" y="5850198"/>
            <a:ext cx="4438840" cy="4438840"/>
          </a:xfrm>
          <a:custGeom>
            <a:avLst/>
            <a:gdLst/>
            <a:ahLst/>
            <a:cxnLst/>
            <a:rect l="l" t="t" r="r" b="b"/>
            <a:pathLst>
              <a:path w="4438840" h="4438840">
                <a:moveTo>
                  <a:pt x="0" y="0"/>
                </a:moveTo>
                <a:lnTo>
                  <a:pt x="4438840" y="0"/>
                </a:lnTo>
                <a:lnTo>
                  <a:pt x="4438840" y="4438840"/>
                </a:lnTo>
                <a:lnTo>
                  <a:pt x="0" y="4438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177E54CB-4396-CD53-23E2-D9B58F09D531}"/>
              </a:ext>
            </a:extLst>
          </p:cNvPr>
          <p:cNvSpPr txBox="1"/>
          <p:nvPr/>
        </p:nvSpPr>
        <p:spPr>
          <a:xfrm>
            <a:off x="14002483" y="1318102"/>
            <a:ext cx="3828318" cy="1341656"/>
          </a:xfrm>
          <a:prstGeom prst="wedgeEllipseCallout">
            <a:avLst>
              <a:gd name="adj1" fmla="val -56633"/>
              <a:gd name="adj2" fmla="val 52127"/>
            </a:avLst>
          </a:prstGeom>
          <a:noFill/>
          <a:ln>
            <a:solidFill>
              <a:schemeClr val="accent5"/>
            </a:solidFill>
          </a:ln>
        </p:spPr>
        <p:txBody>
          <a:bodyPr wrap="square" rtlCol="0">
            <a:spAutoFit/>
          </a:bodyPr>
          <a:lstStyle/>
          <a:p>
            <a:r>
              <a:rPr lang="en-US" sz="2800" b="1" i="1" dirty="0">
                <a:solidFill>
                  <a:schemeClr val="accent5">
                    <a:lumMod val="50000"/>
                  </a:schemeClr>
                </a:solidFill>
                <a:latin typeface="ITC Franklin Gothic LT" panose="020B0604020202020204" charset="0"/>
              </a:rPr>
              <a:t>1,470 records</a:t>
            </a:r>
          </a:p>
          <a:p>
            <a:r>
              <a:rPr lang="en-US" sz="2800" b="1" i="1" dirty="0">
                <a:solidFill>
                  <a:schemeClr val="accent5">
                    <a:lumMod val="50000"/>
                  </a:schemeClr>
                </a:solidFill>
                <a:latin typeface="ITC Franklin Gothic LT" panose="020B0604020202020204" charset="0"/>
              </a:rPr>
              <a:t>35 features</a:t>
            </a:r>
          </a:p>
        </p:txBody>
      </p:sp>
      <p:pic>
        <p:nvPicPr>
          <p:cNvPr id="11" name="Graphic 10" descr="Person eating with solid fill">
            <a:extLst>
              <a:ext uri="{FF2B5EF4-FFF2-40B4-BE49-F238E27FC236}">
                <a16:creationId xmlns:a16="http://schemas.microsoft.com/office/drawing/2014/main" id="{995B984B-FFAF-37AB-4FBB-D220BCF481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58855" y="7221798"/>
            <a:ext cx="1695640" cy="1695640"/>
          </a:xfrm>
          <a:prstGeom prst="rect">
            <a:avLst/>
          </a:prstGeom>
        </p:spPr>
      </p:pic>
      <p:pic>
        <p:nvPicPr>
          <p:cNvPr id="13" name="Graphic 12" descr="Walk with solid fill">
            <a:extLst>
              <a:ext uri="{FF2B5EF4-FFF2-40B4-BE49-F238E27FC236}">
                <a16:creationId xmlns:a16="http://schemas.microsoft.com/office/drawing/2014/main" id="{CE839B2B-8759-BBE5-1EF1-3C66060D9B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51683" y="6847124"/>
            <a:ext cx="1691640" cy="1691640"/>
          </a:xfrm>
          <a:prstGeom prst="rect">
            <a:avLst/>
          </a:prstGeom>
        </p:spPr>
      </p:pic>
      <p:sp>
        <p:nvSpPr>
          <p:cNvPr id="16" name="TextBox 15">
            <a:extLst>
              <a:ext uri="{FF2B5EF4-FFF2-40B4-BE49-F238E27FC236}">
                <a16:creationId xmlns:a16="http://schemas.microsoft.com/office/drawing/2014/main" id="{4859CA28-E181-111C-A31D-15F61439AD42}"/>
              </a:ext>
            </a:extLst>
          </p:cNvPr>
          <p:cNvSpPr txBox="1"/>
          <p:nvPr/>
        </p:nvSpPr>
        <p:spPr>
          <a:xfrm>
            <a:off x="3663462" y="7518111"/>
            <a:ext cx="5486400" cy="584775"/>
          </a:xfrm>
          <a:prstGeom prst="rect">
            <a:avLst/>
          </a:prstGeom>
          <a:noFill/>
        </p:spPr>
        <p:txBody>
          <a:bodyPr wrap="square" rtlCol="0">
            <a:spAutoFit/>
          </a:bodyPr>
          <a:lstStyle/>
          <a:p>
            <a:r>
              <a:rPr lang="en-US" sz="3200" b="1" dirty="0">
                <a:solidFill>
                  <a:schemeClr val="accent3">
                    <a:lumMod val="50000"/>
                  </a:schemeClr>
                </a:solidFill>
                <a:latin typeface="ITC Franklin Gothic LT" panose="020B0604020202020204" charset="0"/>
              </a:rPr>
              <a:t>Current Employees: 83.88%</a:t>
            </a:r>
          </a:p>
        </p:txBody>
      </p:sp>
      <p:sp>
        <p:nvSpPr>
          <p:cNvPr id="17" name="TextBox 16">
            <a:extLst>
              <a:ext uri="{FF2B5EF4-FFF2-40B4-BE49-F238E27FC236}">
                <a16:creationId xmlns:a16="http://schemas.microsoft.com/office/drawing/2014/main" id="{8AE3B3CC-DD40-7751-AB1F-143939BE0DCE}"/>
              </a:ext>
            </a:extLst>
          </p:cNvPr>
          <p:cNvSpPr txBox="1"/>
          <p:nvPr/>
        </p:nvSpPr>
        <p:spPr>
          <a:xfrm>
            <a:off x="9829800" y="7974550"/>
            <a:ext cx="5486400" cy="584775"/>
          </a:xfrm>
          <a:prstGeom prst="rect">
            <a:avLst/>
          </a:prstGeom>
          <a:noFill/>
        </p:spPr>
        <p:txBody>
          <a:bodyPr wrap="square" rtlCol="0">
            <a:spAutoFit/>
          </a:bodyPr>
          <a:lstStyle/>
          <a:p>
            <a:r>
              <a:rPr lang="en-US" sz="3200" b="1" dirty="0">
                <a:solidFill>
                  <a:srgbClr val="C00000"/>
                </a:solidFill>
                <a:latin typeface="ITC Franklin Gothic LT" panose="020B0604020202020204" charset="0"/>
              </a:rPr>
              <a:t>Past Employees: 16.12%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2">
            <a:extLst>
              <a:ext uri="{FF2B5EF4-FFF2-40B4-BE49-F238E27FC236}">
                <a16:creationId xmlns:a16="http://schemas.microsoft.com/office/drawing/2014/main" id="{EA5D49F4-4283-E091-1887-A74934DB2930}"/>
              </a:ext>
            </a:extLst>
          </p:cNvPr>
          <p:cNvSpPr/>
          <p:nvPr/>
        </p:nvSpPr>
        <p:spPr>
          <a:xfrm>
            <a:off x="13305063" y="0"/>
            <a:ext cx="4987814" cy="4987814"/>
          </a:xfrm>
          <a:custGeom>
            <a:avLst/>
            <a:gdLst/>
            <a:ahLst/>
            <a:cxnLst/>
            <a:rect l="l" t="t" r="r" b="b"/>
            <a:pathLst>
              <a:path w="4987814" h="4987814">
                <a:moveTo>
                  <a:pt x="0" y="0"/>
                </a:moveTo>
                <a:lnTo>
                  <a:pt x="4987814" y="0"/>
                </a:lnTo>
                <a:lnTo>
                  <a:pt x="4987814" y="4987814"/>
                </a:lnTo>
                <a:lnTo>
                  <a:pt x="0" y="49878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 name="AutoShape 2"/>
          <p:cNvSpPr/>
          <p:nvPr/>
        </p:nvSpPr>
        <p:spPr>
          <a:xfrm rot="162300">
            <a:off x="1084167" y="1734924"/>
            <a:ext cx="3356543" cy="0"/>
          </a:xfrm>
          <a:prstGeom prst="line">
            <a:avLst/>
          </a:prstGeom>
          <a:ln w="76200" cap="rnd">
            <a:solidFill>
              <a:srgbClr val="7CA655"/>
            </a:solidFill>
            <a:prstDash val="solid"/>
            <a:headEnd type="none" w="sm" len="sm"/>
            <a:tailEnd type="none" w="sm" len="sm"/>
          </a:ln>
        </p:spPr>
        <p:txBody>
          <a:bodyPr/>
          <a:lstStyle/>
          <a:p>
            <a:endParaRPr lang="en-US"/>
          </a:p>
        </p:txBody>
      </p:sp>
      <p:sp>
        <p:nvSpPr>
          <p:cNvPr id="5" name="Freeform 5"/>
          <p:cNvSpPr/>
          <p:nvPr/>
        </p:nvSpPr>
        <p:spPr>
          <a:xfrm>
            <a:off x="832927" y="547399"/>
            <a:ext cx="16310610" cy="1102985"/>
          </a:xfrm>
          <a:custGeom>
            <a:avLst/>
            <a:gdLst/>
            <a:ahLst/>
            <a:cxnLst/>
            <a:rect l="l" t="t" r="r" b="b"/>
            <a:pathLst>
              <a:path w="21747480" h="3360413">
                <a:moveTo>
                  <a:pt x="0" y="0"/>
                </a:moveTo>
                <a:lnTo>
                  <a:pt x="21747480" y="0"/>
                </a:lnTo>
                <a:lnTo>
                  <a:pt x="21747480" y="3360413"/>
                </a:lnTo>
                <a:lnTo>
                  <a:pt x="0" y="3360413"/>
                </a:lnTo>
                <a:close/>
              </a:path>
            </a:pathLst>
          </a:custGeom>
          <a:blipFill>
            <a:blip r:embed="rId5">
              <a:alphaModFix amt="0"/>
            </a:blip>
            <a:stretch>
              <a:fillRect t="-76100" b="-76100"/>
            </a:stretch>
          </a:blipFill>
        </p:spPr>
        <p:txBody>
          <a:bodyPr/>
          <a:lstStyle/>
          <a:p>
            <a:pPr>
              <a:lnSpc>
                <a:spcPts val="6336"/>
              </a:lnSpc>
            </a:pPr>
            <a:r>
              <a:rPr lang="en-US" sz="66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EDA &amp; Preparation</a:t>
            </a:r>
          </a:p>
        </p:txBody>
      </p:sp>
      <p:pic>
        <p:nvPicPr>
          <p:cNvPr id="15" name="Picture 14">
            <a:extLst>
              <a:ext uri="{FF2B5EF4-FFF2-40B4-BE49-F238E27FC236}">
                <a16:creationId xmlns:a16="http://schemas.microsoft.com/office/drawing/2014/main" id="{B6713EBE-EB4A-9189-C7CE-A471369C0C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25000" y="266700"/>
            <a:ext cx="8473908" cy="4204883"/>
          </a:xfrm>
          <a:prstGeom prst="rect">
            <a:avLst/>
          </a:prstGeom>
        </p:spPr>
      </p:pic>
      <p:sp>
        <p:nvSpPr>
          <p:cNvPr id="8" name="Oval 7">
            <a:extLst>
              <a:ext uri="{FF2B5EF4-FFF2-40B4-BE49-F238E27FC236}">
                <a16:creationId xmlns:a16="http://schemas.microsoft.com/office/drawing/2014/main" id="{621E5196-FE8C-E32C-6EDD-D8EE1C5274D7}"/>
              </a:ext>
            </a:extLst>
          </p:cNvPr>
          <p:cNvSpPr/>
          <p:nvPr/>
        </p:nvSpPr>
        <p:spPr>
          <a:xfrm>
            <a:off x="10134600" y="3359742"/>
            <a:ext cx="685800" cy="609600"/>
          </a:xfrm>
          <a:prstGeom prst="ellipse">
            <a:avLst/>
          </a:prstGeom>
          <a:noFill/>
          <a:ln w="57150">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7">
            <a:extLst>
              <a:ext uri="{FF2B5EF4-FFF2-40B4-BE49-F238E27FC236}">
                <a16:creationId xmlns:a16="http://schemas.microsoft.com/office/drawing/2014/main" id="{CC6C14AE-657A-7C53-0C05-4A3AD83E0340}"/>
              </a:ext>
            </a:extLst>
          </p:cNvPr>
          <p:cNvSpPr txBox="1"/>
          <p:nvPr/>
        </p:nvSpPr>
        <p:spPr>
          <a:xfrm>
            <a:off x="791160" y="2156879"/>
            <a:ext cx="8352840" cy="2051844"/>
          </a:xfrm>
          <a:prstGeom prst="rect">
            <a:avLst/>
          </a:prstGeom>
        </p:spPr>
        <p:txBody>
          <a:bodyPr wrap="square" lIns="0" tIns="0" rIns="0" bIns="0" rtlCol="0" anchor="t">
            <a:spAutoFit/>
          </a:bodyPr>
          <a:lstStyle/>
          <a:p>
            <a:pPr marL="271463" lvl="1" algn="l">
              <a:lnSpc>
                <a:spcPts val="3240"/>
              </a:lnSpc>
            </a:pPr>
            <a:r>
              <a:rPr lang="en-US" sz="2800" u="sng" dirty="0">
                <a:solidFill>
                  <a:srgbClr val="000000"/>
                </a:solidFill>
                <a:latin typeface="ITC Franklin Gothic LT"/>
                <a:ea typeface="ITC Franklin Gothic LT"/>
                <a:cs typeface="ITC Franklin Gothic LT"/>
                <a:sym typeface="ITC Franklin Gothic LT"/>
              </a:rPr>
              <a:t>(EDA) – Who had higher attrition rates?</a:t>
            </a:r>
          </a:p>
          <a:p>
            <a:pPr marL="1000125" lvl="2" indent="-271462">
              <a:lnSpc>
                <a:spcPts val="3240"/>
              </a:lnSpc>
              <a:buFont typeface="Arial"/>
              <a:buChar char="•"/>
            </a:pPr>
            <a:r>
              <a:rPr lang="en-US" sz="2800" dirty="0">
                <a:solidFill>
                  <a:srgbClr val="000000"/>
                </a:solidFill>
                <a:latin typeface="ITC Franklin Gothic LT"/>
                <a:ea typeface="ITC Franklin Gothic LT"/>
                <a:cs typeface="ITC Franklin Gothic LT"/>
                <a:sym typeface="ITC Franklin Gothic LT"/>
              </a:rPr>
              <a:t>Department: 1. Sales 2. HR 3. R&amp;D</a:t>
            </a:r>
          </a:p>
          <a:p>
            <a:pPr marL="1000125" lvl="2" indent="-271462">
              <a:lnSpc>
                <a:spcPts val="3240"/>
              </a:lnSpc>
              <a:buFont typeface="Arial"/>
              <a:buChar char="•"/>
            </a:pPr>
            <a:r>
              <a:rPr lang="en-US" sz="2800" dirty="0">
                <a:solidFill>
                  <a:srgbClr val="000000"/>
                </a:solidFill>
                <a:latin typeface="ITC Franklin Gothic LT"/>
                <a:ea typeface="ITC Franklin Gothic LT"/>
                <a:cs typeface="ITC Franklin Gothic LT"/>
                <a:sym typeface="ITC Franklin Gothic LT"/>
              </a:rPr>
              <a:t>Monthly Income Group &lt;$1,000-$4,000</a:t>
            </a:r>
          </a:p>
          <a:p>
            <a:pPr marL="1000125" lvl="2" indent="-271462">
              <a:lnSpc>
                <a:spcPts val="3240"/>
              </a:lnSpc>
              <a:buFont typeface="Arial"/>
              <a:buChar char="•"/>
            </a:pPr>
            <a:r>
              <a:rPr lang="en-US" sz="2800" dirty="0">
                <a:solidFill>
                  <a:srgbClr val="000000"/>
                </a:solidFill>
                <a:latin typeface="ITC Franklin Gothic LT"/>
                <a:ea typeface="ITC Franklin Gothic LT"/>
                <a:cs typeface="ITC Franklin Gothic LT"/>
                <a:sym typeface="ITC Franklin Gothic LT"/>
              </a:rPr>
              <a:t>Years w/ Current Manager: 0-2 years</a:t>
            </a:r>
          </a:p>
          <a:p>
            <a:pPr marL="1000125" lvl="2" indent="-271462">
              <a:lnSpc>
                <a:spcPts val="3240"/>
              </a:lnSpc>
              <a:buFont typeface="Arial"/>
              <a:buChar char="•"/>
            </a:pPr>
            <a:r>
              <a:rPr lang="en-US" sz="2800" dirty="0">
                <a:solidFill>
                  <a:srgbClr val="000000"/>
                </a:solidFill>
                <a:latin typeface="ITC Franklin Gothic LT"/>
                <a:ea typeface="ITC Franklin Gothic LT"/>
                <a:cs typeface="ITC Franklin Gothic LT"/>
                <a:sym typeface="ITC Franklin Gothic LT"/>
              </a:rPr>
              <a:t>18-20 Age Employees</a:t>
            </a:r>
          </a:p>
        </p:txBody>
      </p:sp>
      <p:cxnSp>
        <p:nvCxnSpPr>
          <p:cNvPr id="11" name="Straight Arrow Connector 10">
            <a:extLst>
              <a:ext uri="{FF2B5EF4-FFF2-40B4-BE49-F238E27FC236}">
                <a16:creationId xmlns:a16="http://schemas.microsoft.com/office/drawing/2014/main" id="{8271D1D1-60AE-22D0-0975-CBA1E883EC4F}"/>
              </a:ext>
            </a:extLst>
          </p:cNvPr>
          <p:cNvCxnSpPr/>
          <p:nvPr/>
        </p:nvCxnSpPr>
        <p:spPr>
          <a:xfrm flipV="1">
            <a:off x="5410200" y="3664542"/>
            <a:ext cx="4495800" cy="304800"/>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12" name="TextBox 11">
            <a:extLst>
              <a:ext uri="{FF2B5EF4-FFF2-40B4-BE49-F238E27FC236}">
                <a16:creationId xmlns:a16="http://schemas.microsoft.com/office/drawing/2014/main" id="{FBFCF238-29F8-05BA-EE19-3E96EB791EC0}"/>
              </a:ext>
            </a:extLst>
          </p:cNvPr>
          <p:cNvSpPr txBox="1"/>
          <p:nvPr/>
        </p:nvSpPr>
        <p:spPr>
          <a:xfrm>
            <a:off x="2438400" y="4579253"/>
            <a:ext cx="9810562" cy="2677656"/>
          </a:xfrm>
          <a:prstGeom prst="rect">
            <a:avLst/>
          </a:prstGeom>
          <a:noFill/>
        </p:spPr>
        <p:txBody>
          <a:bodyPr wrap="square" rtlCol="0">
            <a:spAutoFit/>
          </a:bodyPr>
          <a:lstStyle/>
          <a:p>
            <a:r>
              <a:rPr lang="en-US" sz="2800" u="sng" dirty="0">
                <a:latin typeface="ITC Franklin Gothic LT" panose="020B0604020202020204" charset="0"/>
              </a:rPr>
              <a:t>Data Preparation:</a:t>
            </a:r>
          </a:p>
          <a:p>
            <a:pPr marL="285750" indent="-285750">
              <a:buFont typeface="Arial" panose="020B0604020202020204" pitchFamily="34" charset="0"/>
              <a:buChar char="•"/>
            </a:pPr>
            <a:r>
              <a:rPr lang="en-US" sz="2800" dirty="0">
                <a:latin typeface="ITC Franklin Gothic LT" panose="020B0604020202020204" charset="0"/>
              </a:rPr>
              <a:t>Dropped constant/non-informative columns (</a:t>
            </a:r>
            <a:r>
              <a:rPr lang="en-US" sz="2800" dirty="0" err="1">
                <a:latin typeface="ITC Franklin Gothic LT" panose="020B0604020202020204" charset="0"/>
              </a:rPr>
              <a:t>EmployeeNumber</a:t>
            </a:r>
            <a:r>
              <a:rPr lang="en-US" sz="2800" dirty="0">
                <a:latin typeface="ITC Franklin Gothic LT" panose="020B0604020202020204" charset="0"/>
              </a:rPr>
              <a:t>, </a:t>
            </a:r>
            <a:r>
              <a:rPr lang="en-US" sz="2800" dirty="0" err="1">
                <a:latin typeface="ITC Franklin Gothic LT" panose="020B0604020202020204" charset="0"/>
              </a:rPr>
              <a:t>EmployeeCount</a:t>
            </a:r>
            <a:r>
              <a:rPr lang="en-US" sz="2800" dirty="0">
                <a:latin typeface="ITC Franklin Gothic LT" panose="020B0604020202020204" charset="0"/>
              </a:rPr>
              <a:t>)</a:t>
            </a:r>
          </a:p>
          <a:p>
            <a:pPr marL="285750" indent="-285750">
              <a:buFont typeface="Arial" panose="020B0604020202020204" pitchFamily="34" charset="0"/>
              <a:buChar char="•"/>
            </a:pPr>
            <a:r>
              <a:rPr lang="en-US" sz="2800" dirty="0">
                <a:latin typeface="ITC Franklin Gothic LT" panose="020B0604020202020204" charset="0"/>
              </a:rPr>
              <a:t>Rating based columns </a:t>
            </a:r>
            <a:r>
              <a:rPr lang="en-US" sz="2800" dirty="0">
                <a:latin typeface="ITC Franklin Gothic LT" panose="020B0604020202020204" charset="0"/>
                <a:sym typeface="Wingdings" panose="05000000000000000000" pitchFamily="2" charset="2"/>
              </a:rPr>
              <a:t> categorical types (</a:t>
            </a:r>
            <a:r>
              <a:rPr lang="en-US" sz="2800" dirty="0" err="1">
                <a:latin typeface="ITC Franklin Gothic LT" panose="020B0604020202020204" charset="0"/>
                <a:sym typeface="Wingdings" panose="05000000000000000000" pitchFamily="2" charset="2"/>
              </a:rPr>
              <a:t>JobSatisfaction</a:t>
            </a:r>
            <a:r>
              <a:rPr lang="en-US" sz="2800" dirty="0">
                <a:latin typeface="ITC Franklin Gothic LT" panose="020B0604020202020204" charset="0"/>
                <a:sym typeface="Wingdings" panose="05000000000000000000" pitchFamily="2" charset="2"/>
              </a:rPr>
              <a:t>)</a:t>
            </a:r>
          </a:p>
          <a:p>
            <a:pPr marL="285750" indent="-285750">
              <a:buFont typeface="Arial" panose="020B0604020202020204" pitchFamily="34" charset="0"/>
              <a:buChar char="•"/>
            </a:pPr>
            <a:r>
              <a:rPr lang="en-US" sz="2800" dirty="0">
                <a:latin typeface="ITC Franklin Gothic LT" panose="020B0604020202020204" charset="0"/>
                <a:sym typeface="Wingdings" panose="05000000000000000000" pitchFamily="2" charset="2"/>
              </a:rPr>
              <a:t>Numerical column skewness &gt;0.75  log transformed</a:t>
            </a:r>
            <a:endParaRPr lang="en-US" sz="2800" dirty="0">
              <a:latin typeface="ITC Franklin Gothic LT" panose="020B0604020202020204" charset="0"/>
            </a:endParaRPr>
          </a:p>
        </p:txBody>
      </p:sp>
      <p:sp>
        <p:nvSpPr>
          <p:cNvPr id="14" name="TextBox 13">
            <a:extLst>
              <a:ext uri="{FF2B5EF4-FFF2-40B4-BE49-F238E27FC236}">
                <a16:creationId xmlns:a16="http://schemas.microsoft.com/office/drawing/2014/main" id="{E15EE94B-5F3A-F671-82E9-E4683C72E303}"/>
              </a:ext>
            </a:extLst>
          </p:cNvPr>
          <p:cNvSpPr txBox="1"/>
          <p:nvPr/>
        </p:nvSpPr>
        <p:spPr>
          <a:xfrm>
            <a:off x="6250185" y="7571881"/>
            <a:ext cx="11571318" cy="2246769"/>
          </a:xfrm>
          <a:prstGeom prst="rect">
            <a:avLst/>
          </a:prstGeom>
          <a:noFill/>
        </p:spPr>
        <p:txBody>
          <a:bodyPr wrap="square" rtlCol="0">
            <a:spAutoFit/>
          </a:bodyPr>
          <a:lstStyle/>
          <a:p>
            <a:r>
              <a:rPr lang="en-US" sz="2800" u="sng" dirty="0">
                <a:latin typeface="ITC Franklin Gothic LT" panose="020B0604020202020204" charset="0"/>
              </a:rPr>
              <a:t>Independent t-test:</a:t>
            </a:r>
          </a:p>
          <a:p>
            <a:pPr marL="285750" indent="-285750">
              <a:buFont typeface="Arial" panose="020B0604020202020204" pitchFamily="34" charset="0"/>
              <a:buChar char="•"/>
            </a:pPr>
            <a:r>
              <a:rPr lang="en-US" sz="2800" dirty="0">
                <a:latin typeface="ITC Franklin Gothic LT" panose="020B0604020202020204" charset="0"/>
              </a:rPr>
              <a:t>H</a:t>
            </a:r>
            <a:r>
              <a:rPr lang="en-US" sz="2800" baseline="-25000" dirty="0">
                <a:latin typeface="ITC Franklin Gothic LT" panose="020B0604020202020204" charset="0"/>
              </a:rPr>
              <a:t>0</a:t>
            </a:r>
            <a:r>
              <a:rPr lang="en-US" sz="2800" dirty="0">
                <a:latin typeface="ITC Franklin Gothic LT" panose="020B0604020202020204" charset="0"/>
              </a:rPr>
              <a:t>: Average income by month of past employees is the same as employees still present.</a:t>
            </a:r>
          </a:p>
          <a:p>
            <a:pPr marL="285750" indent="-285750">
              <a:buFont typeface="Arial" panose="020B0604020202020204" pitchFamily="34" charset="0"/>
              <a:buChar char="•"/>
            </a:pPr>
            <a:r>
              <a:rPr lang="en-US" sz="2800" i="1" dirty="0">
                <a:latin typeface="ITC Franklin Gothic LT" panose="020B0604020202020204" charset="0"/>
              </a:rPr>
              <a:t>p &lt; 0.0001 </a:t>
            </a:r>
            <a:r>
              <a:rPr lang="en-US" sz="2800" i="1" dirty="0">
                <a:latin typeface="ITC Franklin Gothic LT" panose="020B0604020202020204" charset="0"/>
                <a:sym typeface="Wingdings" panose="05000000000000000000" pitchFamily="2" charset="2"/>
              </a:rPr>
              <a:t> </a:t>
            </a:r>
            <a:r>
              <a:rPr lang="en-US" sz="2800" dirty="0">
                <a:latin typeface="ITC Franklin Gothic LT" panose="020B0604020202020204" charset="0"/>
                <a:sym typeface="Wingdings" panose="05000000000000000000" pitchFamily="2" charset="2"/>
              </a:rPr>
              <a:t>Average income by month of past employees </a:t>
            </a:r>
            <a:r>
              <a:rPr lang="en-US" sz="2800" b="1" dirty="0">
                <a:latin typeface="ITC Franklin Gothic LT" panose="020B0604020202020204" charset="0"/>
                <a:sym typeface="Wingdings" panose="05000000000000000000" pitchFamily="2" charset="2"/>
              </a:rPr>
              <a:t>is different </a:t>
            </a:r>
            <a:r>
              <a:rPr lang="en-US" sz="2800" dirty="0">
                <a:latin typeface="ITC Franklin Gothic LT" panose="020B0604020202020204" charset="0"/>
                <a:sym typeface="Wingdings" panose="05000000000000000000" pitchFamily="2" charset="2"/>
              </a:rPr>
              <a:t>as employees still present</a:t>
            </a:r>
            <a:endParaRPr lang="en-US" sz="2800" dirty="0">
              <a:latin typeface="ITC Franklin Gothic LT"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7">
            <a:extLst>
              <a:ext uri="{FF2B5EF4-FFF2-40B4-BE49-F238E27FC236}">
                <a16:creationId xmlns:a16="http://schemas.microsoft.com/office/drawing/2014/main" id="{DD1B0B75-5C1C-3F4A-D87C-6EC0AB3AA9B0}"/>
              </a:ext>
            </a:extLst>
          </p:cNvPr>
          <p:cNvSpPr/>
          <p:nvPr/>
        </p:nvSpPr>
        <p:spPr>
          <a:xfrm>
            <a:off x="0" y="5850198"/>
            <a:ext cx="4438840" cy="4438840"/>
          </a:xfrm>
          <a:custGeom>
            <a:avLst/>
            <a:gdLst/>
            <a:ahLst/>
            <a:cxnLst/>
            <a:rect l="l" t="t" r="r" b="b"/>
            <a:pathLst>
              <a:path w="4438840" h="4438840">
                <a:moveTo>
                  <a:pt x="0" y="0"/>
                </a:moveTo>
                <a:lnTo>
                  <a:pt x="4438840" y="0"/>
                </a:lnTo>
                <a:lnTo>
                  <a:pt x="4438840" y="4438840"/>
                </a:lnTo>
                <a:lnTo>
                  <a:pt x="0" y="4438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27" name="Picture 26">
            <a:extLst>
              <a:ext uri="{FF2B5EF4-FFF2-40B4-BE49-F238E27FC236}">
                <a16:creationId xmlns:a16="http://schemas.microsoft.com/office/drawing/2014/main" id="{66C1E5A7-9DC4-36E0-308A-4505CEAD0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5593" y="5497551"/>
            <a:ext cx="10781415" cy="4789153"/>
          </a:xfrm>
          <a:prstGeom prst="rect">
            <a:avLst/>
          </a:prstGeom>
        </p:spPr>
      </p:pic>
      <p:sp>
        <p:nvSpPr>
          <p:cNvPr id="15" name="Freeform 5"/>
          <p:cNvSpPr/>
          <p:nvPr/>
        </p:nvSpPr>
        <p:spPr>
          <a:xfrm>
            <a:off x="724785" y="389816"/>
            <a:ext cx="6781800" cy="2590801"/>
          </a:xfrm>
          <a:custGeom>
            <a:avLst/>
            <a:gdLst/>
            <a:ahLst/>
            <a:cxnLst/>
            <a:rect l="l" t="t" r="r" b="b"/>
            <a:pathLst>
              <a:path w="21747480" h="3360413">
                <a:moveTo>
                  <a:pt x="0" y="0"/>
                </a:moveTo>
                <a:lnTo>
                  <a:pt x="21747480" y="0"/>
                </a:lnTo>
                <a:lnTo>
                  <a:pt x="21747480" y="3360413"/>
                </a:lnTo>
                <a:lnTo>
                  <a:pt x="0" y="3360413"/>
                </a:lnTo>
                <a:close/>
              </a:path>
            </a:pathLst>
          </a:custGeom>
          <a:blipFill>
            <a:blip r:embed="rId6">
              <a:alphaModFix amt="0"/>
            </a:blip>
            <a:stretch>
              <a:fillRect t="-76100" b="-76100"/>
            </a:stretch>
          </a:blipFill>
        </p:spPr>
        <p:txBody>
          <a:bodyPr/>
          <a:lstStyle/>
          <a:p>
            <a:pPr>
              <a:lnSpc>
                <a:spcPts val="6336"/>
              </a:lnSpc>
            </a:pPr>
            <a:r>
              <a:rPr lang="en-US" sz="66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Models: Logistic Regression vs Random Forest</a:t>
            </a:r>
          </a:p>
        </p:txBody>
      </p:sp>
      <p:sp>
        <p:nvSpPr>
          <p:cNvPr id="13" name="TextBox 12">
            <a:extLst>
              <a:ext uri="{FF2B5EF4-FFF2-40B4-BE49-F238E27FC236}">
                <a16:creationId xmlns:a16="http://schemas.microsoft.com/office/drawing/2014/main" id="{491FC551-8AD3-3E68-B704-4054AF374EAB}"/>
              </a:ext>
            </a:extLst>
          </p:cNvPr>
          <p:cNvSpPr txBox="1"/>
          <p:nvPr/>
        </p:nvSpPr>
        <p:spPr>
          <a:xfrm>
            <a:off x="1676400" y="3584410"/>
            <a:ext cx="4624635" cy="830997"/>
          </a:xfrm>
          <a:prstGeom prst="rect">
            <a:avLst/>
          </a:prstGeom>
          <a:noFill/>
        </p:spPr>
        <p:txBody>
          <a:bodyPr wrap="square" rtlCol="0">
            <a:spAutoFit/>
          </a:bodyPr>
          <a:lstStyle/>
          <a:p>
            <a:r>
              <a:rPr lang="en-US" sz="2400" b="1" i="1" dirty="0">
                <a:solidFill>
                  <a:srgbClr val="FFC000"/>
                </a:solidFill>
                <a:latin typeface="ITC Franklin Gothic LT" panose="020B0604020202020204" charset="0"/>
              </a:rPr>
              <a:t>Correctly identified how many employees left in the test set </a:t>
            </a:r>
          </a:p>
        </p:txBody>
      </p:sp>
      <p:sp>
        <p:nvSpPr>
          <p:cNvPr id="17" name="AutoShape 2">
            <a:extLst>
              <a:ext uri="{FF2B5EF4-FFF2-40B4-BE49-F238E27FC236}">
                <a16:creationId xmlns:a16="http://schemas.microsoft.com/office/drawing/2014/main" id="{00EB4701-46B7-D362-126F-EBE305145806}"/>
              </a:ext>
            </a:extLst>
          </p:cNvPr>
          <p:cNvSpPr/>
          <p:nvPr/>
        </p:nvSpPr>
        <p:spPr>
          <a:xfrm rot="162300">
            <a:off x="1903130" y="3144205"/>
            <a:ext cx="3356543" cy="0"/>
          </a:xfrm>
          <a:prstGeom prst="line">
            <a:avLst/>
          </a:prstGeom>
          <a:ln w="76200" cap="rnd">
            <a:solidFill>
              <a:srgbClr val="7CA655"/>
            </a:solidFill>
            <a:prstDash val="solid"/>
            <a:headEnd type="none" w="sm" len="sm"/>
            <a:tailEnd type="none" w="sm" len="sm"/>
          </a:ln>
        </p:spPr>
        <p:txBody>
          <a:bodyPr/>
          <a:lstStyle/>
          <a:p>
            <a:endParaRPr lang="en-US"/>
          </a:p>
        </p:txBody>
      </p:sp>
      <p:sp>
        <p:nvSpPr>
          <p:cNvPr id="19" name="TextBox 18">
            <a:extLst>
              <a:ext uri="{FF2B5EF4-FFF2-40B4-BE49-F238E27FC236}">
                <a16:creationId xmlns:a16="http://schemas.microsoft.com/office/drawing/2014/main" id="{240A6CF8-46B4-6AF5-24C0-85A5B20F21FE}"/>
              </a:ext>
            </a:extLst>
          </p:cNvPr>
          <p:cNvSpPr txBox="1"/>
          <p:nvPr/>
        </p:nvSpPr>
        <p:spPr>
          <a:xfrm>
            <a:off x="2363032" y="7068751"/>
            <a:ext cx="4572000" cy="1077218"/>
          </a:xfrm>
          <a:prstGeom prst="rect">
            <a:avLst/>
          </a:prstGeom>
          <a:noFill/>
        </p:spPr>
        <p:txBody>
          <a:bodyPr wrap="square" rtlCol="0">
            <a:spAutoFit/>
          </a:bodyPr>
          <a:lstStyle/>
          <a:p>
            <a:r>
              <a:rPr lang="en-US" sz="3200" b="1" i="1" u="sng" dirty="0">
                <a:latin typeface="ITC Franklin Gothic LT" panose="020B0604020202020204" charset="0"/>
              </a:rPr>
              <a:t>Metrics:</a:t>
            </a:r>
          </a:p>
          <a:p>
            <a:pPr marL="285750" indent="-285750">
              <a:buFont typeface="Arial" panose="020B0604020202020204" pitchFamily="34" charset="0"/>
              <a:buChar char="•"/>
            </a:pPr>
            <a:r>
              <a:rPr lang="en-US" sz="3200" b="1" i="1" dirty="0">
                <a:latin typeface="ITC Franklin Gothic LT" panose="020B0604020202020204" charset="0"/>
              </a:rPr>
              <a:t>AUC &amp; Recall &gt; Acc.</a:t>
            </a:r>
          </a:p>
        </p:txBody>
      </p:sp>
      <p:grpSp>
        <p:nvGrpSpPr>
          <p:cNvPr id="25" name="Group 24">
            <a:extLst>
              <a:ext uri="{FF2B5EF4-FFF2-40B4-BE49-F238E27FC236}">
                <a16:creationId xmlns:a16="http://schemas.microsoft.com/office/drawing/2014/main" id="{2EAB1ED6-7384-4095-2D17-EC2712391699}"/>
              </a:ext>
            </a:extLst>
          </p:cNvPr>
          <p:cNvGrpSpPr/>
          <p:nvPr/>
        </p:nvGrpSpPr>
        <p:grpSpPr>
          <a:xfrm>
            <a:off x="1143000" y="4774702"/>
            <a:ext cx="5451470" cy="1718551"/>
            <a:chOff x="5334000" y="2019946"/>
            <a:chExt cx="5451470" cy="1718551"/>
          </a:xfrm>
        </p:grpSpPr>
        <p:pic>
          <p:nvPicPr>
            <p:cNvPr id="4" name="Picture 3">
              <a:extLst>
                <a:ext uri="{FF2B5EF4-FFF2-40B4-BE49-F238E27FC236}">
                  <a16:creationId xmlns:a16="http://schemas.microsoft.com/office/drawing/2014/main" id="{6C5FD392-BB74-82C6-FDD2-5BF868A1EEC2}"/>
                </a:ext>
              </a:extLst>
            </p:cNvPr>
            <p:cNvPicPr>
              <a:picLocks noChangeAspect="1"/>
            </p:cNvPicPr>
            <p:nvPr/>
          </p:nvPicPr>
          <p:blipFill>
            <a:blip r:embed="rId7"/>
            <a:stretch>
              <a:fillRect/>
            </a:stretch>
          </p:blipFill>
          <p:spPr>
            <a:xfrm>
              <a:off x="5334000" y="2019946"/>
              <a:ext cx="5451470" cy="1718551"/>
            </a:xfrm>
            <a:prstGeom prst="rect">
              <a:avLst/>
            </a:prstGeom>
            <a:ln>
              <a:solidFill>
                <a:schemeClr val="tx1"/>
              </a:solidFill>
            </a:ln>
            <a:effectLst>
              <a:outerShdw blurRad="50800" dist="38100" dir="2700000" algn="tl" rotWithShape="0">
                <a:prstClr val="black">
                  <a:alpha val="40000"/>
                </a:prstClr>
              </a:outerShdw>
            </a:effectLst>
          </p:spPr>
        </p:pic>
        <p:sp>
          <p:nvSpPr>
            <p:cNvPr id="5" name="Oval 4">
              <a:extLst>
                <a:ext uri="{FF2B5EF4-FFF2-40B4-BE49-F238E27FC236}">
                  <a16:creationId xmlns:a16="http://schemas.microsoft.com/office/drawing/2014/main" id="{14A8795B-2CD4-73C4-27AB-8658D2FD546F}"/>
                </a:ext>
              </a:extLst>
            </p:cNvPr>
            <p:cNvSpPr/>
            <p:nvPr/>
          </p:nvSpPr>
          <p:spPr>
            <a:xfrm>
              <a:off x="8556924" y="2951106"/>
              <a:ext cx="739475" cy="287393"/>
            </a:xfrm>
            <a:prstGeom prst="ellipse">
              <a:avLst/>
            </a:prstGeom>
            <a:noFill/>
            <a:ln>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4B8392A-3433-C6EC-3BBB-F38A05729414}"/>
                </a:ext>
              </a:extLst>
            </p:cNvPr>
            <p:cNvSpPr/>
            <p:nvPr/>
          </p:nvSpPr>
          <p:spPr>
            <a:xfrm>
              <a:off x="8556923" y="3374198"/>
              <a:ext cx="739475" cy="287392"/>
            </a:xfrm>
            <a:prstGeom prst="ellipse">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3FFEA68-71F7-3717-3D36-B380DA8D0757}"/>
              </a:ext>
            </a:extLst>
          </p:cNvPr>
          <p:cNvGrpSpPr/>
          <p:nvPr/>
        </p:nvGrpSpPr>
        <p:grpSpPr>
          <a:xfrm>
            <a:off x="8162651" y="296"/>
            <a:ext cx="9370186" cy="5497847"/>
            <a:chOff x="8610600" y="4789153"/>
            <a:chExt cx="9370186" cy="5497847"/>
          </a:xfrm>
        </p:grpSpPr>
        <p:pic>
          <p:nvPicPr>
            <p:cNvPr id="23" name="Picture 22">
              <a:extLst>
                <a:ext uri="{FF2B5EF4-FFF2-40B4-BE49-F238E27FC236}">
                  <a16:creationId xmlns:a16="http://schemas.microsoft.com/office/drawing/2014/main" id="{50DB2E45-AD86-B910-6BB9-86EC307002C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64905" y="4789153"/>
              <a:ext cx="9215881" cy="5497847"/>
            </a:xfrm>
            <a:prstGeom prst="rect">
              <a:avLst/>
            </a:prstGeom>
          </p:spPr>
        </p:pic>
        <p:sp>
          <p:nvSpPr>
            <p:cNvPr id="30" name="Flowchart: Alternate Process 29">
              <a:extLst>
                <a:ext uri="{FF2B5EF4-FFF2-40B4-BE49-F238E27FC236}">
                  <a16:creationId xmlns:a16="http://schemas.microsoft.com/office/drawing/2014/main" id="{856FAD5B-E950-FBDA-8B51-EA91AD5A7C9A}"/>
                </a:ext>
              </a:extLst>
            </p:cNvPr>
            <p:cNvSpPr/>
            <p:nvPr/>
          </p:nvSpPr>
          <p:spPr>
            <a:xfrm>
              <a:off x="8610600" y="5143500"/>
              <a:ext cx="1979848" cy="1981200"/>
            </a:xfrm>
            <a:prstGeom prst="flowChartAlternateProcess">
              <a:avLst/>
            </a:prstGeom>
            <a:noFill/>
            <a:ln w="57150">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B2FB2AFA-3D29-CBC1-2D86-CC78E0060A0E}"/>
              </a:ext>
            </a:extLst>
          </p:cNvPr>
          <p:cNvCxnSpPr>
            <a:cxnSpLocks/>
          </p:cNvCxnSpPr>
          <p:nvPr/>
        </p:nvCxnSpPr>
        <p:spPr>
          <a:xfrm>
            <a:off x="3733800" y="4476810"/>
            <a:ext cx="921854" cy="895290"/>
          </a:xfrm>
          <a:prstGeom prst="straightConnector1">
            <a:avLst/>
          </a:prstGeom>
          <a:ln w="38100">
            <a:solidFill>
              <a:srgbClr val="FFC000"/>
            </a:solidFill>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05063" y="0"/>
            <a:ext cx="4987814" cy="4987814"/>
          </a:xfrm>
          <a:custGeom>
            <a:avLst/>
            <a:gdLst/>
            <a:ahLst/>
            <a:cxnLst/>
            <a:rect l="l" t="t" r="r" b="b"/>
            <a:pathLst>
              <a:path w="4987814" h="4987814">
                <a:moveTo>
                  <a:pt x="0" y="0"/>
                </a:moveTo>
                <a:lnTo>
                  <a:pt x="4987814" y="0"/>
                </a:lnTo>
                <a:lnTo>
                  <a:pt x="4987814" y="4987814"/>
                </a:lnTo>
                <a:lnTo>
                  <a:pt x="0" y="49878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AutoShape 3"/>
          <p:cNvSpPr/>
          <p:nvPr/>
        </p:nvSpPr>
        <p:spPr>
          <a:xfrm rot="162300">
            <a:off x="846454" y="1869904"/>
            <a:ext cx="3356543" cy="0"/>
          </a:xfrm>
          <a:prstGeom prst="line">
            <a:avLst/>
          </a:prstGeom>
          <a:ln w="76200" cap="rnd">
            <a:solidFill>
              <a:srgbClr val="7CA655"/>
            </a:solidFill>
            <a:prstDash val="solid"/>
            <a:headEnd type="none" w="sm" len="sm"/>
            <a:tailEnd type="none" w="sm" len="sm"/>
          </a:ln>
        </p:spPr>
        <p:txBody>
          <a:bodyPr/>
          <a:lstStyle/>
          <a:p>
            <a:endParaRPr lang="en-US"/>
          </a:p>
        </p:txBody>
      </p:sp>
      <p:sp>
        <p:nvSpPr>
          <p:cNvPr id="5" name="Freeform 5"/>
          <p:cNvSpPr/>
          <p:nvPr/>
        </p:nvSpPr>
        <p:spPr>
          <a:xfrm>
            <a:off x="773515" y="558282"/>
            <a:ext cx="16459200" cy="1010217"/>
          </a:xfrm>
          <a:custGeom>
            <a:avLst/>
            <a:gdLst/>
            <a:ahLst/>
            <a:cxnLst/>
            <a:rect l="l" t="t" r="r" b="b"/>
            <a:pathLst>
              <a:path w="21945600" h="3148633">
                <a:moveTo>
                  <a:pt x="0" y="0"/>
                </a:moveTo>
                <a:lnTo>
                  <a:pt x="21945600" y="0"/>
                </a:lnTo>
                <a:lnTo>
                  <a:pt x="21945600" y="3148633"/>
                </a:lnTo>
                <a:lnTo>
                  <a:pt x="0" y="3148633"/>
                </a:lnTo>
                <a:close/>
              </a:path>
            </a:pathLst>
          </a:custGeom>
          <a:blipFill>
            <a:blip r:embed="rId5">
              <a:alphaModFix amt="0"/>
            </a:blip>
            <a:stretch>
              <a:fillRect t="-617845" b="-617845"/>
            </a:stretch>
          </a:blipFill>
        </p:spPr>
        <p:txBody>
          <a:bodyPr/>
          <a:lstStyle/>
          <a:p>
            <a:r>
              <a:rPr lang="en-US" sz="66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Findings</a:t>
            </a:r>
            <a:endParaRPr lang="en-US" sz="6600" dirty="0"/>
          </a:p>
        </p:txBody>
      </p:sp>
      <p:sp>
        <p:nvSpPr>
          <p:cNvPr id="7" name="Freeform 7"/>
          <p:cNvSpPr/>
          <p:nvPr/>
        </p:nvSpPr>
        <p:spPr>
          <a:xfrm>
            <a:off x="10640082" y="3319597"/>
            <a:ext cx="2188354" cy="2714237"/>
          </a:xfrm>
          <a:custGeom>
            <a:avLst/>
            <a:gdLst/>
            <a:ahLst/>
            <a:cxnLst/>
            <a:rect l="l" t="t" r="r" b="b"/>
            <a:pathLst>
              <a:path w="2188354" h="2714237">
                <a:moveTo>
                  <a:pt x="0" y="0"/>
                </a:moveTo>
                <a:lnTo>
                  <a:pt x="2188353" y="0"/>
                </a:lnTo>
                <a:lnTo>
                  <a:pt x="2188353" y="2714237"/>
                </a:lnTo>
                <a:lnTo>
                  <a:pt x="0" y="27142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flipH="1">
            <a:off x="13099036" y="6014618"/>
            <a:ext cx="2711307" cy="3076661"/>
          </a:xfrm>
          <a:custGeom>
            <a:avLst/>
            <a:gdLst/>
            <a:ahLst/>
            <a:cxnLst/>
            <a:rect l="l" t="t" r="r" b="b"/>
            <a:pathLst>
              <a:path w="2711307" h="3076661">
                <a:moveTo>
                  <a:pt x="2711308" y="0"/>
                </a:moveTo>
                <a:lnTo>
                  <a:pt x="0" y="0"/>
                </a:lnTo>
                <a:lnTo>
                  <a:pt x="0" y="3076661"/>
                </a:lnTo>
                <a:lnTo>
                  <a:pt x="2711308" y="3076661"/>
                </a:lnTo>
                <a:lnTo>
                  <a:pt x="2711308"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6172554" y="8461394"/>
            <a:ext cx="2120322" cy="1788781"/>
          </a:xfrm>
          <a:custGeom>
            <a:avLst/>
            <a:gdLst/>
            <a:ahLst/>
            <a:cxnLst/>
            <a:rect l="l" t="t" r="r" b="b"/>
            <a:pathLst>
              <a:path w="2120322" h="1788781">
                <a:moveTo>
                  <a:pt x="0" y="0"/>
                </a:moveTo>
                <a:lnTo>
                  <a:pt x="2120323" y="0"/>
                </a:lnTo>
                <a:lnTo>
                  <a:pt x="2120323" y="1788782"/>
                </a:lnTo>
                <a:lnTo>
                  <a:pt x="0" y="178878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TextBox 10"/>
          <p:cNvSpPr txBox="1"/>
          <p:nvPr/>
        </p:nvSpPr>
        <p:spPr>
          <a:xfrm>
            <a:off x="980808" y="2171309"/>
            <a:ext cx="10525391" cy="2524602"/>
          </a:xfrm>
          <a:prstGeom prst="rect">
            <a:avLst/>
          </a:prstGeom>
        </p:spPr>
        <p:txBody>
          <a:bodyPr wrap="square" lIns="0" tIns="0" rIns="0" bIns="0" rtlCol="0" anchor="t">
            <a:spAutoFit/>
          </a:bodyPr>
          <a:lstStyle/>
          <a:p>
            <a:pPr marL="777240" lvl="1" indent="-388620" algn="l">
              <a:lnSpc>
                <a:spcPts val="5040"/>
              </a:lnSpc>
              <a:buFont typeface="Arial"/>
              <a:buChar char="•"/>
            </a:pPr>
            <a:r>
              <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rPr>
              <a:t>Money (income) matters!! </a:t>
            </a:r>
          </a:p>
          <a:p>
            <a:pPr marL="777240" lvl="1" indent="-388620" algn="l">
              <a:lnSpc>
                <a:spcPts val="5040"/>
              </a:lnSpc>
              <a:buFont typeface="Arial"/>
              <a:buChar char="•"/>
            </a:pPr>
            <a:r>
              <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rPr>
              <a:t>Younger people (18-20) tend to leave the company</a:t>
            </a:r>
          </a:p>
          <a:p>
            <a:pPr marL="777240" lvl="1" indent="-388620" algn="l">
              <a:lnSpc>
                <a:spcPts val="5040"/>
              </a:lnSpc>
              <a:buFont typeface="Arial"/>
              <a:buChar char="•"/>
            </a:pPr>
            <a:r>
              <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rPr>
              <a:t>Logistic Regression &gt; Random Forest</a:t>
            </a:r>
          </a:p>
          <a:p>
            <a:pPr marL="777240" lvl="1" indent="-388620" algn="l">
              <a:lnSpc>
                <a:spcPts val="5040"/>
              </a:lnSpc>
              <a:buFont typeface="Arial"/>
              <a:buChar char="•"/>
            </a:pPr>
            <a:endPar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endParaRPr>
          </a:p>
        </p:txBody>
      </p:sp>
      <p:sp>
        <p:nvSpPr>
          <p:cNvPr id="15" name="TextBox 10">
            <a:extLst>
              <a:ext uri="{FF2B5EF4-FFF2-40B4-BE49-F238E27FC236}">
                <a16:creationId xmlns:a16="http://schemas.microsoft.com/office/drawing/2014/main" id="{76BB897C-18EA-40C3-A62F-C3B40107928D}"/>
              </a:ext>
            </a:extLst>
          </p:cNvPr>
          <p:cNvSpPr txBox="1"/>
          <p:nvPr/>
        </p:nvSpPr>
        <p:spPr>
          <a:xfrm>
            <a:off x="980808" y="7031491"/>
            <a:ext cx="10677791" cy="1883401"/>
          </a:xfrm>
          <a:prstGeom prst="rect">
            <a:avLst/>
          </a:prstGeom>
        </p:spPr>
        <p:txBody>
          <a:bodyPr wrap="square" lIns="0" tIns="0" rIns="0" bIns="0" rtlCol="0" anchor="t">
            <a:spAutoFit/>
          </a:bodyPr>
          <a:lstStyle/>
          <a:p>
            <a:pPr marL="960120" lvl="1" indent="-571500">
              <a:lnSpc>
                <a:spcPts val="5040"/>
              </a:lnSpc>
              <a:buFont typeface="Arial" panose="020B0604020202020204" pitchFamily="34" charset="0"/>
              <a:buChar char="•"/>
            </a:pPr>
            <a:r>
              <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rPr>
              <a:t>Real anonymized employee data</a:t>
            </a:r>
          </a:p>
          <a:p>
            <a:pPr marL="960120" lvl="1" indent="-571500">
              <a:lnSpc>
                <a:spcPts val="5040"/>
              </a:lnSpc>
              <a:buFont typeface="Arial" panose="020B0604020202020204" pitchFamily="34" charset="0"/>
              <a:buChar char="•"/>
            </a:pPr>
            <a:r>
              <a:rPr lang="en-US" sz="3600" b="1" spc="79" dirty="0">
                <a:solidFill>
                  <a:srgbClr val="000000"/>
                </a:solidFill>
                <a:latin typeface="ITC Franklin Gothic LT Condensed Semi-Bold"/>
                <a:ea typeface="ITC Franklin Gothic LT Condensed Semi-Bold"/>
                <a:cs typeface="ITC Franklin Gothic LT Condensed Semi-Bold"/>
                <a:sym typeface="ITC Franklin Gothic LT Condensed Semi-Bold"/>
              </a:rPr>
              <a:t>Real time system for continuous monitoring and flagging</a:t>
            </a:r>
          </a:p>
        </p:txBody>
      </p:sp>
      <p:sp>
        <p:nvSpPr>
          <p:cNvPr id="16" name="AutoShape 3">
            <a:extLst>
              <a:ext uri="{FF2B5EF4-FFF2-40B4-BE49-F238E27FC236}">
                <a16:creationId xmlns:a16="http://schemas.microsoft.com/office/drawing/2014/main" id="{2C750677-3314-4647-30FC-8397501A7002}"/>
              </a:ext>
            </a:extLst>
          </p:cNvPr>
          <p:cNvSpPr/>
          <p:nvPr/>
        </p:nvSpPr>
        <p:spPr>
          <a:xfrm rot="162300">
            <a:off x="846453" y="6685284"/>
            <a:ext cx="3356543" cy="0"/>
          </a:xfrm>
          <a:prstGeom prst="line">
            <a:avLst/>
          </a:prstGeom>
          <a:ln w="76200" cap="rnd">
            <a:solidFill>
              <a:srgbClr val="7CA655"/>
            </a:solidFill>
            <a:prstDash val="solid"/>
            <a:headEnd type="none" w="sm" len="sm"/>
            <a:tailEnd type="none" w="sm" len="sm"/>
          </a:ln>
        </p:spPr>
        <p:txBody>
          <a:bodyPr/>
          <a:lstStyle/>
          <a:p>
            <a:endParaRPr lang="en-US"/>
          </a:p>
        </p:txBody>
      </p:sp>
      <p:sp>
        <p:nvSpPr>
          <p:cNvPr id="17" name="Freeform 5">
            <a:extLst>
              <a:ext uri="{FF2B5EF4-FFF2-40B4-BE49-F238E27FC236}">
                <a16:creationId xmlns:a16="http://schemas.microsoft.com/office/drawing/2014/main" id="{3F6DE24B-12C0-F33A-EFEB-E3E86ED9CADD}"/>
              </a:ext>
            </a:extLst>
          </p:cNvPr>
          <p:cNvSpPr/>
          <p:nvPr/>
        </p:nvSpPr>
        <p:spPr>
          <a:xfrm>
            <a:off x="773515" y="5298721"/>
            <a:ext cx="16459200" cy="1010217"/>
          </a:xfrm>
          <a:custGeom>
            <a:avLst/>
            <a:gdLst/>
            <a:ahLst/>
            <a:cxnLst/>
            <a:rect l="l" t="t" r="r" b="b"/>
            <a:pathLst>
              <a:path w="21945600" h="3148633">
                <a:moveTo>
                  <a:pt x="0" y="0"/>
                </a:moveTo>
                <a:lnTo>
                  <a:pt x="21945600" y="0"/>
                </a:lnTo>
                <a:lnTo>
                  <a:pt x="21945600" y="3148633"/>
                </a:lnTo>
                <a:lnTo>
                  <a:pt x="0" y="3148633"/>
                </a:lnTo>
                <a:close/>
              </a:path>
            </a:pathLst>
          </a:custGeom>
          <a:blipFill>
            <a:blip r:embed="rId5">
              <a:alphaModFix amt="0"/>
            </a:blip>
            <a:stretch>
              <a:fillRect t="-617845" b="-617845"/>
            </a:stretch>
          </a:blipFill>
        </p:spPr>
        <p:txBody>
          <a:bodyPr/>
          <a:lstStyle/>
          <a:p>
            <a:r>
              <a:rPr lang="en-US" sz="66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Future Directions</a:t>
            </a:r>
            <a:endParaRPr lang="en-US" sz="6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533400" y="571500"/>
            <a:ext cx="16459200" cy="914695"/>
          </a:xfrm>
          <a:custGeom>
            <a:avLst/>
            <a:gdLst/>
            <a:ahLst/>
            <a:cxnLst/>
            <a:rect l="l" t="t" r="r" b="b"/>
            <a:pathLst>
              <a:path w="21945600" h="2377440">
                <a:moveTo>
                  <a:pt x="0" y="0"/>
                </a:moveTo>
                <a:lnTo>
                  <a:pt x="21945600" y="0"/>
                </a:lnTo>
                <a:lnTo>
                  <a:pt x="21945600" y="2377440"/>
                </a:lnTo>
                <a:lnTo>
                  <a:pt x="0" y="2377440"/>
                </a:lnTo>
                <a:close/>
              </a:path>
            </a:pathLst>
          </a:custGeom>
          <a:blipFill>
            <a:blip r:embed="rId3">
              <a:alphaModFix amt="0"/>
            </a:blip>
            <a:stretch>
              <a:fillRect t="-129861" b="-129861"/>
            </a:stretch>
          </a:blipFill>
        </p:spPr>
        <p:txBody>
          <a:bodyPr/>
          <a:lstStyle/>
          <a:p>
            <a:pPr>
              <a:lnSpc>
                <a:spcPts val="6336"/>
              </a:lnSpc>
            </a:pPr>
            <a:r>
              <a:rPr lang="en-US" sz="5400" b="1" spc="150" dirty="0">
                <a:solidFill>
                  <a:srgbClr val="000000"/>
                </a:solidFill>
                <a:latin typeface="ITC Franklin Gothic LT Condensed Semi-Bold"/>
                <a:ea typeface="ITC Franklin Gothic LT Condensed Semi-Bold"/>
                <a:cs typeface="ITC Franklin Gothic LT Condensed Semi-Bold"/>
                <a:sym typeface="ITC Franklin Gothic LT Condensed Semi-Bold"/>
              </a:rPr>
              <a:t>References</a:t>
            </a:r>
          </a:p>
        </p:txBody>
      </p:sp>
      <p:sp>
        <p:nvSpPr>
          <p:cNvPr id="8" name="TextBox 7">
            <a:extLst>
              <a:ext uri="{FF2B5EF4-FFF2-40B4-BE49-F238E27FC236}">
                <a16:creationId xmlns:a16="http://schemas.microsoft.com/office/drawing/2014/main" id="{BD052479-0B01-E482-C44B-897567706F86}"/>
              </a:ext>
            </a:extLst>
          </p:cNvPr>
          <p:cNvSpPr txBox="1"/>
          <p:nvPr/>
        </p:nvSpPr>
        <p:spPr>
          <a:xfrm>
            <a:off x="762000" y="2476500"/>
            <a:ext cx="16933438" cy="7394717"/>
          </a:xfrm>
          <a:prstGeom prst="rect">
            <a:avLst/>
          </a:prstGeom>
          <a:noFill/>
        </p:spPr>
        <p:txBody>
          <a:bodyPr wrap="square">
            <a:spAutoFit/>
          </a:bodyPr>
          <a:lstStyle/>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Alqahtani, H., </a:t>
            </a: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Almagrabi</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H., &amp; Alharbi, A. (2025). Dataset for predictive modelling and analysis of employee attrition and retention.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Data in Brief</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63</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112242. https://doi-org.dml.regis.edu/10.1016/j.dib.2025.112242</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Cooper, A. K., &amp; Coetzee, S. (2020). On the ethics of using publicly-available data.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Lecture Notes in Computer Science</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159–171. https://doi.org/10.1007/978-3-030-45002-1_14 </a:t>
            </a:r>
          </a:p>
          <a:p>
            <a:pPr marL="0" marR="0">
              <a:lnSpc>
                <a:spcPct val="115000"/>
              </a:lnSpc>
              <a:spcAft>
                <a:spcPts val="800"/>
              </a:spcAft>
              <a:buNone/>
            </a:pP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Couronné</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R., Probst, P., &amp; Boulesteix, A.-L. (2018). Random Forest versus logistic regression: A large-scale benchmark experiment.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BMC Bioinformatics</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19</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(1). https://doi-org.dml.regis.edu/10.1186/s12859-018-2264-5</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Govindarajan, R., Kumar, N. K., P, S. R., E, S. P., B, D., &amp; G, P. K. (2025). Predicting employee attrition: A comparative analysis of machine learning models using the IBM Human Resource Analytics Dataset.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Procedia Computer Science</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258</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4084–4093. https://doi-org.dml.regis.edu/10.1016/j.procs.2025.04.659</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Hoffman, M., &amp; </a:t>
            </a: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Tadelis</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S. (2021). People Management Skills, employee attrition, and manager rewards: An empirical analysis.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Journal of Political Economy</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129</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(1), 243–285. https://doi.org/10.1086/711409 </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Kim, J. (2025). The effect of mismanagement of poor performers on their coworkers’ turnover intentions.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Public Personnel Management</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55</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(1), 118–144. https://doi-org.dml.regis.edu/10.1177/00910260251360823</a:t>
            </a:r>
          </a:p>
          <a:p>
            <a:pPr marL="0" marR="0">
              <a:lnSpc>
                <a:spcPct val="115000"/>
              </a:lnSpc>
              <a:spcAft>
                <a:spcPts val="800"/>
              </a:spcAft>
              <a:buNone/>
            </a:pP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Kirasich</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K., Smith, T., &amp; Sadler, B. (2018). Random Forest vs Logistic Regression: Binary Classification for Heterogeneous.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SMU Data Science Review</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1</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(3). https://scholar.smu.edu/datasciencereview/vol1/iss3/9 </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Lee, F., &amp; Algarra, A. (2025). Leveraging topic modeling to predict and prevent employee attrition.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Information Systems Education Journal</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23</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(4), 59–84. https://doi.org/10.62273/mqnf1140 </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Manafi </a:t>
            </a: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Varkiani</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S., </a:t>
            </a: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Pattarin</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F., Fabbri, T., &amp; Fantoni, G. (2025). Predicting employee attrition and explaining its determinants.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Expert Systems with Applications</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272</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126575. https://doi-org.dml.regis.edu/10.1016/j.eswa.2025.126575</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Narayanan, A., &amp; Shmatikov, V. (2006). How to break anonymity of the Netflix Prize dataset. </a:t>
            </a:r>
            <a:r>
              <a:rPr lang="en-US" sz="1600" kern="100" dirty="0" err="1">
                <a:effectLst/>
                <a:latin typeface="ITC Franklin Gothic LT" panose="020B0604020202020204" charset="0"/>
                <a:ea typeface="Aptos" panose="020B0004020202020204" pitchFamily="34" charset="0"/>
                <a:cs typeface="Times New Roman" panose="02020603050405020304" pitchFamily="18" charset="0"/>
              </a:rPr>
              <a:t>arXiv</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https://doi.org/10.48550/arXiv.cs/0610105</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Srivastava, G. N., Sharma, H., Agarwal, R. N., &amp; Jain, A. K. (2025). Analyzing employee attrition of research and development firms using mixed methods.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Cogent Business &amp;amp; Management</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12</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(1). https://doi-org.dml.regis.edu/10.1080/23311975.2025.2565439</a:t>
            </a:r>
          </a:p>
          <a:p>
            <a:pPr marL="0" marR="0">
              <a:lnSpc>
                <a:spcPct val="115000"/>
              </a:lnSpc>
              <a:spcAft>
                <a:spcPts val="800"/>
              </a:spcAft>
              <a:buNone/>
            </a:pPr>
            <a:r>
              <a:rPr lang="en-US" sz="1600" kern="100" dirty="0">
                <a:effectLst/>
                <a:latin typeface="ITC Franklin Gothic LT" panose="020B0604020202020204" charset="0"/>
                <a:ea typeface="Aptos" panose="020B0004020202020204" pitchFamily="34" charset="0"/>
                <a:cs typeface="Times New Roman" panose="02020603050405020304" pitchFamily="18" charset="0"/>
              </a:rPr>
              <a:t>Susser, D., Schiff, D. S., Gerke, S., Cabrera, L. Y., Cohen, I. G., Doerr, M., Harrod, J., Kostick</a:t>
            </a:r>
            <a:r>
              <a:rPr lang="en-US" sz="1600" kern="100" dirty="0">
                <a:effectLst/>
                <a:latin typeface="ITC Franklin Gothic LT" panose="020B0604020202020204" charset="0"/>
                <a:ea typeface="Aptos" panose="020B0004020202020204" pitchFamily="34" charset="0"/>
                <a:cs typeface="Cambria Math" panose="02040503050406030204" pitchFamily="18" charset="0"/>
              </a:rPr>
              <a:t>‐</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Quenet, K., McNealy, J., Meyer, M. N., Price, W. N., &amp; Wagner, J. K. (2024). Synthetic Health Data: Real ethical promise and peril.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Hastings Center Report</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 </a:t>
            </a:r>
            <a:r>
              <a:rPr lang="en-US" sz="1600" i="1" kern="100" dirty="0">
                <a:effectLst/>
                <a:latin typeface="ITC Franklin Gothic LT" panose="020B0604020202020204" charset="0"/>
                <a:ea typeface="Aptos" panose="020B0004020202020204" pitchFamily="34" charset="0"/>
                <a:cs typeface="Times New Roman" panose="02020603050405020304" pitchFamily="18" charset="0"/>
              </a:rPr>
              <a:t>54</a:t>
            </a:r>
            <a:r>
              <a:rPr lang="en-US" sz="1600" kern="100" dirty="0">
                <a:effectLst/>
                <a:latin typeface="ITC Franklin Gothic LT" panose="020B0604020202020204" charset="0"/>
                <a:ea typeface="Aptos" panose="020B0004020202020204" pitchFamily="34" charset="0"/>
                <a:cs typeface="Times New Roman" panose="02020603050405020304" pitchFamily="18" charset="0"/>
              </a:rPr>
              <a:t>(5), 8–13. https://doi.org/10.1002/hast.4911 </a:t>
            </a:r>
          </a:p>
        </p:txBody>
      </p:sp>
      <p:sp>
        <p:nvSpPr>
          <p:cNvPr id="9" name="AutoShape 3">
            <a:extLst>
              <a:ext uri="{FF2B5EF4-FFF2-40B4-BE49-F238E27FC236}">
                <a16:creationId xmlns:a16="http://schemas.microsoft.com/office/drawing/2014/main" id="{1BB10D94-4265-A0D2-07A7-71BE9812A49C}"/>
              </a:ext>
            </a:extLst>
          </p:cNvPr>
          <p:cNvSpPr/>
          <p:nvPr/>
        </p:nvSpPr>
        <p:spPr>
          <a:xfrm rot="162300">
            <a:off x="846454" y="1869904"/>
            <a:ext cx="3356543" cy="0"/>
          </a:xfrm>
          <a:prstGeom prst="line">
            <a:avLst/>
          </a:prstGeom>
          <a:ln w="76200" cap="rnd">
            <a:solidFill>
              <a:srgbClr val="7CA655"/>
            </a:solidFill>
            <a:prstDash val="solid"/>
            <a:headEnd type="none" w="sm" len="sm"/>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427</TotalTime>
  <Words>1796</Words>
  <Application>Microsoft Office PowerPoint</Application>
  <PresentationFormat>Custom</PresentationFormat>
  <Paragraphs>108</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ITC Franklin Gothic LT Condensed Semi-Bold</vt:lpstr>
      <vt:lpstr>ITC Franklin Gothic LT</vt:lpstr>
      <vt:lpstr>Arial</vt:lpstr>
      <vt:lpstr>Calibri</vt:lpstr>
      <vt:lpstr>ITC Franklin Gothic LT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Analytics for Workforce Stability.pptx</dc:title>
  <cp:lastModifiedBy>Zheng, Michelle</cp:lastModifiedBy>
  <cp:revision>20</cp:revision>
  <dcterms:created xsi:type="dcterms:W3CDTF">2006-08-16T00:00:00Z</dcterms:created>
  <dcterms:modified xsi:type="dcterms:W3CDTF">2026-03-09T08:07:40Z</dcterms:modified>
  <dc:identifier>DAHCZ86qGzw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2026-03-05T19:54:08Z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beb72758-b6c6-49d9-9f2d-c5e4316e3b15</vt:lpwstr>
  </property>
  <property fmtid="{D5CDD505-2E9C-101B-9397-08002B2CF9AE}" pid="8" name="MSIP_Label_a6de1d5b-8b4b-4e4e-a8a1-d2976158103f_ContentBits">
    <vt:lpwstr>0</vt:lpwstr>
  </property>
  <property fmtid="{D5CDD505-2E9C-101B-9397-08002B2CF9AE}" pid="9" name="MSIP_Label_a6de1d5b-8b4b-4e4e-a8a1-d2976158103f_Tag">
    <vt:lpwstr>10, 3, 0, 1</vt:lpwstr>
  </property>
</Properties>
</file>